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_bg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548640"/>
            <a:ext cx="2788920" cy="292608"/>
          </a:xfrm>
          <a:prstGeom prst="roundRect">
            <a:avLst>
              <a:gd name="adj" fmla="val 12000"/>
            </a:avLst>
          </a:prstGeom>
          <a:solidFill>
            <a:srgbClr val="1C082B"/>
          </a:solidFill>
          <a:ln w="10160">
            <a:solidFill>
              <a:srgbClr val="653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585216"/>
            <a:ext cx="264261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0EAF5"/>
                </a:solidFill>
                <a:latin typeface="Consolas"/>
              </a:defRPr>
            </a:pPr>
            <a:r>
              <a:t>WEB GAME DEVELOPMENT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14300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2EFF"/>
                </a:solidFill>
                <a:latin typeface="Consolas"/>
              </a:defRPr>
            </a:pPr>
            <a:r>
              <a:t>TECHNOPIXEL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562356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F8F3FF"/>
                </a:solidFill>
                <a:latin typeface="Consolas"/>
              </a:defRPr>
            </a:pPr>
            <a:r>
              <a:t>SPACE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F8F3FF"/>
                </a:solidFill>
                <a:latin typeface="Consolas"/>
              </a:defRPr>
            </a:pPr>
            <a:r>
              <a:t>INVADERS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3401568"/>
            <a:ext cx="1417320" cy="0"/>
          </a:xfrm>
          <a:prstGeom prst="line">
            <a:avLst/>
          </a:prstGeom>
          <a:ln w="38100">
            <a:solidFill>
              <a:srgbClr val="FF2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3639312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EAF5"/>
                </a:solidFill>
                <a:latin typeface="Aptos"/>
              </a:defRPr>
            </a:pPr>
            <a:r>
              <a:t>FOUNDATIONS &amp; CORE GAME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96512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D9C5F2"/>
                </a:solidFill>
                <a:latin typeface="Consolas"/>
              </a:defRPr>
            </a:pPr>
            <a:r>
              <a:t>DAY 1  •  DECEMBER 10,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26280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F8F3FF"/>
                </a:solidFill>
                <a:latin typeface="Aptos"/>
              </a:defRPr>
            </a:pPr>
            <a:r>
              <a:t>A step-by-step introduction to building a browser arcade game.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04688"/>
            <a:ext cx="3429000" cy="493776"/>
          </a:xfrm>
          <a:prstGeom prst="roundRect">
            <a:avLst>
              <a:gd name="adj" fmla="val 12000"/>
            </a:avLst>
          </a:prstGeom>
          <a:solidFill>
            <a:srgbClr val="1A062A"/>
          </a:solidFill>
          <a:ln w="10160">
            <a:solidFill>
              <a:srgbClr val="562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650992"/>
            <a:ext cx="3108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8F3FF"/>
                </a:solidFill>
                <a:latin typeface="Consolas"/>
              </a:defRPr>
            </a:pPr>
            <a:r>
              <a:t>DAVE PUNZALAN  /  TECHNOPIXEL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508760"/>
            <a:ext cx="5212080" cy="2606040"/>
          </a:xfrm>
          <a:prstGeom prst="roundRect">
            <a:avLst>
              <a:gd name="adj" fmla="val 12000"/>
            </a:avLst>
          </a:prstGeom>
          <a:solidFill>
            <a:srgbClr val="10051D"/>
          </a:solidFill>
          <a:ln w="15240">
            <a:solidFill>
              <a:srgbClr val="FF2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p_hero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1572768"/>
            <a:ext cx="5084064" cy="24780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10528" y="431596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00EAF5"/>
                </a:solidFill>
                <a:latin typeface="Consolas"/>
              </a:defRPr>
            </a:pPr>
            <a:r>
              <a:t>DEFEND THE GRID. SAVE THE PIXELVERSE.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4956048"/>
            <a:ext cx="1325880" cy="292608"/>
          </a:xfrm>
          <a:prstGeom prst="roundRect">
            <a:avLst>
              <a:gd name="adj" fmla="val 12000"/>
            </a:avLst>
          </a:prstGeom>
          <a:solidFill>
            <a:srgbClr val="1D0730"/>
          </a:solidFill>
          <a:ln w="10160">
            <a:solidFill>
              <a:srgbClr val="542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2" y="4992624"/>
            <a:ext cx="11795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00EAF5"/>
                </a:solidFill>
                <a:latin typeface="Consolas"/>
              </a:defRPr>
            </a:pPr>
            <a:r>
              <a:t>HTML5 CANVAS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7888" y="4956048"/>
            <a:ext cx="1234440" cy="292608"/>
          </a:xfrm>
          <a:prstGeom prst="roundRect">
            <a:avLst>
              <a:gd name="adj" fmla="val 12000"/>
            </a:avLst>
          </a:prstGeom>
          <a:solidFill>
            <a:srgbClr val="1D0730"/>
          </a:solidFill>
          <a:ln w="10160">
            <a:solidFill>
              <a:srgbClr val="542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992624"/>
            <a:ext cx="10881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FF2EFF"/>
                </a:solidFill>
                <a:latin typeface="Consolas"/>
              </a:defRPr>
            </a:pPr>
            <a:r>
              <a:t>VANILLA JS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82912" y="4956048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1D0730"/>
          </a:solidFill>
          <a:ln w="10160">
            <a:solidFill>
              <a:srgbClr val="542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56064" y="4992624"/>
            <a:ext cx="127101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F8F3FF"/>
                </a:solidFill>
                <a:latin typeface="Consolas"/>
              </a:defRPr>
            </a:pPr>
            <a:r>
              <a:t>PIXEL ARCADE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10160">
            <a:solidFill>
              <a:srgbClr val="3D18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583680"/>
            <a:ext cx="6400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9E89B9"/>
                </a:solidFill>
                <a:latin typeface="Consolas"/>
              </a:defRPr>
            </a:pPr>
            <a:r>
              <a:t>TECHNOPIXEL • SPACE INVADERS • DAY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37392" y="656539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01 / START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8F3FF"/>
                </a:solidFill>
                <a:latin typeface="Aptos"/>
              </a:defRPr>
            </a:pPr>
            <a:r>
              <a:t>Today’s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D9C5F2"/>
                </a:solidFill>
                <a:latin typeface="Aptos"/>
              </a:defRPr>
            </a:pPr>
            <a:r>
              <a:t>We will turn a browser page into a playable arcade game — one small mechanic at a time.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" y="1444752"/>
            <a:ext cx="10991088" cy="0"/>
          </a:xfrm>
          <a:prstGeom prst="line">
            <a:avLst/>
          </a:prstGeom>
          <a:ln w="12700">
            <a:solidFill>
              <a:srgbClr val="602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" y="1444752"/>
            <a:ext cx="630936" cy="0"/>
          </a:xfrm>
          <a:prstGeom prst="line">
            <a:avLst/>
          </a:prstGeom>
          <a:ln w="27940">
            <a:solidFill>
              <a:srgbClr val="00E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10160">
            <a:solidFill>
              <a:srgbClr val="3D18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83680"/>
            <a:ext cx="6400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9E89B9"/>
                </a:solidFill>
                <a:latin typeface="Consolas"/>
              </a:defRPr>
            </a:pPr>
            <a:r>
              <a:t>TECHNOPIXEL • DAY 1 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37392" y="656539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828800"/>
            <a:ext cx="2606040" cy="2240280"/>
          </a:xfrm>
          <a:prstGeom prst="roundRect">
            <a:avLst>
              <a:gd name="adj" fmla="val 12000"/>
            </a:avLst>
          </a:prstGeom>
          <a:solidFill>
            <a:srgbClr val="170726"/>
          </a:solidFill>
          <a:ln w="12700">
            <a:solidFill>
              <a:srgbClr val="4B1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59" y="1993392"/>
            <a:ext cx="50292" cy="1911096"/>
          </a:xfrm>
          <a:prstGeom prst="rect">
            <a:avLst/>
          </a:prstGeom>
          <a:solidFill>
            <a:srgbClr val="00EAF5"/>
          </a:solidFill>
          <a:ln w="3810">
            <a:solidFill>
              <a:srgbClr val="00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24128" y="2029968"/>
            <a:ext cx="530352" cy="292608"/>
          </a:xfrm>
          <a:prstGeom prst="roundRect">
            <a:avLst>
              <a:gd name="adj" fmla="val 12000"/>
            </a:avLst>
          </a:prstGeom>
          <a:solidFill>
            <a:srgbClr val="260A3B"/>
          </a:solidFill>
          <a:ln w="10160">
            <a:solidFill>
              <a:srgbClr val="6D2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066544"/>
            <a:ext cx="384047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00EAF5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2423160"/>
            <a:ext cx="2039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8F3FF"/>
                </a:solidFill>
                <a:latin typeface="Aptos"/>
              </a:defRPr>
            </a:pPr>
            <a:r>
              <a:t>Set up the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2862072"/>
            <a:ext cx="2020824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D9C5F2"/>
                </a:solidFill>
                <a:latin typeface="Aptos"/>
              </a:defRPr>
            </a:pPr>
            <a:r>
              <a:t>Open the existing game in VS Code and run it locally in a browser.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38728" y="1828800"/>
            <a:ext cx="2606040" cy="2240280"/>
          </a:xfrm>
          <a:prstGeom prst="roundRect">
            <a:avLst>
              <a:gd name="adj" fmla="val 12000"/>
            </a:avLst>
          </a:prstGeom>
          <a:solidFill>
            <a:srgbClr val="170726"/>
          </a:solidFill>
          <a:ln w="12700">
            <a:solidFill>
              <a:srgbClr val="4B1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03320" y="1993392"/>
            <a:ext cx="50292" cy="1911096"/>
          </a:xfrm>
          <a:prstGeom prst="rect">
            <a:avLst/>
          </a:prstGeom>
          <a:solidFill>
            <a:srgbClr val="FF2EFF"/>
          </a:solidFill>
          <a:ln w="3810">
            <a:solidFill>
              <a:srgbClr val="FF2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04488" y="2029968"/>
            <a:ext cx="530352" cy="292608"/>
          </a:xfrm>
          <a:prstGeom prst="roundRect">
            <a:avLst>
              <a:gd name="adj" fmla="val 12000"/>
            </a:avLst>
          </a:prstGeom>
          <a:solidFill>
            <a:srgbClr val="260A3B"/>
          </a:solidFill>
          <a:ln w="10160">
            <a:solidFill>
              <a:srgbClr val="6D2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40" y="2066544"/>
            <a:ext cx="384047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FF2EF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4488" y="2423160"/>
            <a:ext cx="203911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8F3FF"/>
                </a:solidFill>
                <a:latin typeface="Aptos"/>
              </a:defRPr>
            </a:pPr>
            <a:r>
              <a:t>Move &amp; shoot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04488" y="2862072"/>
            <a:ext cx="2020824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D9C5F2"/>
                </a:solidFill>
                <a:latin typeface="Aptos"/>
              </a:defRPr>
            </a:pPr>
            <a:r>
              <a:t>Read keyboard input, update the player position, and fire projectiles.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19088" y="1828800"/>
            <a:ext cx="2606040" cy="2240280"/>
          </a:xfrm>
          <a:prstGeom prst="roundRect">
            <a:avLst>
              <a:gd name="adj" fmla="val 12000"/>
            </a:avLst>
          </a:prstGeom>
          <a:solidFill>
            <a:srgbClr val="170726"/>
          </a:solidFill>
          <a:ln w="12700">
            <a:solidFill>
              <a:srgbClr val="4B1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79" y="1993392"/>
            <a:ext cx="50292" cy="1911096"/>
          </a:xfrm>
          <a:prstGeom prst="rect">
            <a:avLst/>
          </a:prstGeom>
          <a:solidFill>
            <a:srgbClr val="8D36C9"/>
          </a:solidFill>
          <a:ln w="3810">
            <a:solidFill>
              <a:srgbClr val="8D3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784848" y="2029968"/>
            <a:ext cx="530352" cy="292608"/>
          </a:xfrm>
          <a:prstGeom prst="roundRect">
            <a:avLst>
              <a:gd name="adj" fmla="val 12000"/>
            </a:avLst>
          </a:prstGeom>
          <a:solidFill>
            <a:srgbClr val="260A3B"/>
          </a:solidFill>
          <a:ln w="10160">
            <a:solidFill>
              <a:srgbClr val="6D2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066544"/>
            <a:ext cx="384047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8D36C9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4848" y="2423160"/>
            <a:ext cx="203911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8F3FF"/>
                </a:solidFill>
                <a:latin typeface="Aptos"/>
              </a:defRPr>
            </a:pPr>
            <a:r>
              <a:t>Build the invasion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4848" y="2862072"/>
            <a:ext cx="2020824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D9C5F2"/>
                </a:solidFill>
                <a:latin typeface="Aptos"/>
              </a:defRPr>
            </a:pPr>
            <a:r>
              <a:t>Create enemy formations, movement rules, and side invaders.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99448" y="1828800"/>
            <a:ext cx="2606040" cy="2240280"/>
          </a:xfrm>
          <a:prstGeom prst="roundRect">
            <a:avLst>
              <a:gd name="adj" fmla="val 12000"/>
            </a:avLst>
          </a:prstGeom>
          <a:solidFill>
            <a:srgbClr val="170726"/>
          </a:solidFill>
          <a:ln w="12700">
            <a:solidFill>
              <a:srgbClr val="4B1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464040" y="1993392"/>
            <a:ext cx="50292" cy="1911096"/>
          </a:xfrm>
          <a:prstGeom prst="rect">
            <a:avLst/>
          </a:prstGeom>
          <a:solidFill>
            <a:srgbClr val="FF73E7"/>
          </a:solidFill>
          <a:ln w="3810">
            <a:solidFill>
              <a:srgbClr val="FF7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65208" y="2029968"/>
            <a:ext cx="530352" cy="292608"/>
          </a:xfrm>
          <a:prstGeom prst="roundRect">
            <a:avLst>
              <a:gd name="adj" fmla="val 12000"/>
            </a:avLst>
          </a:prstGeom>
          <a:solidFill>
            <a:srgbClr val="260A3B"/>
          </a:solidFill>
          <a:ln w="10160">
            <a:solidFill>
              <a:srgbClr val="6D2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38360" y="2066544"/>
            <a:ext cx="384047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FF73E7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65208" y="2423160"/>
            <a:ext cx="203911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8F3FF"/>
                </a:solidFill>
                <a:latin typeface="Aptos"/>
              </a:defRPr>
            </a:pPr>
            <a:r>
              <a:t>Make it a game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5208" y="2862072"/>
            <a:ext cx="2020824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D9C5F2"/>
                </a:solidFill>
                <a:latin typeface="Aptos"/>
              </a:defRPr>
            </a:pPr>
            <a:r>
              <a:t>Detect collisions, award points, manage lives, and track game states.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4462272"/>
            <a:ext cx="10771632" cy="1188720"/>
          </a:xfrm>
          <a:prstGeom prst="roundRect">
            <a:avLst>
              <a:gd name="adj" fmla="val 12000"/>
            </a:avLst>
          </a:prstGeom>
          <a:solidFill>
            <a:srgbClr val="1C082D"/>
          </a:solidFill>
          <a:ln w="12700">
            <a:solidFill>
              <a:srgbClr val="6A2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4690872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2EFF"/>
                </a:solidFill>
                <a:latin typeface="Consolas"/>
              </a:defRPr>
            </a:pPr>
            <a:r>
              <a:t>FINISH 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40864" y="4626864"/>
            <a:ext cx="8686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8F3FF"/>
                </a:solidFill>
                <a:latin typeface="Aptos"/>
              </a:defRPr>
            </a:pPr>
            <a:r>
              <a:t>A working Space Invaders game you can explain, test, and customize.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59152" y="5056632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D9C5F2"/>
                </a:solidFill>
                <a:latin typeface="Aptos"/>
              </a:defRPr>
            </a:pPr>
            <a:r>
              <a:t>No prior JavaScript experience required — curiosity and patience are enough.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02 / THE BIG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8F3FF"/>
                </a:solidFill>
                <a:latin typeface="Aptos"/>
              </a:defRPr>
            </a:pPr>
            <a:r>
              <a:t>Anatomy of a browser game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D9C5F2"/>
                </a:solidFill>
                <a:latin typeface="Aptos"/>
              </a:defRPr>
            </a:pPr>
            <a:r>
              <a:t>Four parts work together. Each has a different job.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" y="1444752"/>
            <a:ext cx="10991088" cy="0"/>
          </a:xfrm>
          <a:prstGeom prst="line">
            <a:avLst/>
          </a:prstGeom>
          <a:ln w="12700">
            <a:solidFill>
              <a:srgbClr val="602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" y="1444752"/>
            <a:ext cx="630936" cy="0"/>
          </a:xfrm>
          <a:prstGeom prst="line">
            <a:avLst/>
          </a:prstGeom>
          <a:ln w="27940">
            <a:solidFill>
              <a:srgbClr val="00E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10160">
            <a:solidFill>
              <a:srgbClr val="3D18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83680"/>
            <a:ext cx="6400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9E89B9"/>
                </a:solidFill>
                <a:latin typeface="Consolas"/>
              </a:defRPr>
            </a:pPr>
            <a:r>
              <a:t>TECHNOPIXEL • DAY 1 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37392" y="656539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1755648"/>
            <a:ext cx="6675120" cy="786384"/>
          </a:xfrm>
          <a:prstGeom prst="roundRect">
            <a:avLst>
              <a:gd name="adj" fmla="val 12000"/>
            </a:avLst>
          </a:prstGeom>
          <a:solidFill>
            <a:srgbClr val="160625"/>
          </a:solidFill>
          <a:ln w="11430">
            <a:solidFill>
              <a:srgbClr val="4B1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" y="1755648"/>
            <a:ext cx="91440" cy="786384"/>
          </a:xfrm>
          <a:prstGeom prst="rect">
            <a:avLst/>
          </a:prstGeom>
          <a:solidFill>
            <a:srgbClr val="58C5FF"/>
          </a:solidFill>
          <a:ln w="3810">
            <a:solidFill>
              <a:srgbClr val="58C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1901952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58C5FF"/>
                </a:solidFill>
                <a:latin typeface="Consolas"/>
              </a:defRPr>
            </a:pPr>
            <a:r>
              <a:t>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1920240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D9C5F2"/>
                </a:solidFill>
                <a:latin typeface="Consolas"/>
              </a:defRPr>
            </a:pPr>
            <a:r>
              <a:t>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1901952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F8F3FF"/>
                </a:solidFill>
                <a:latin typeface="Aptos"/>
              </a:defRPr>
            </a:pPr>
            <a:r>
              <a:t>The page’s skeleton: buttons, sections, labels, and the canvas.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" y="2761488"/>
            <a:ext cx="6675120" cy="786384"/>
          </a:xfrm>
          <a:prstGeom prst="roundRect">
            <a:avLst>
              <a:gd name="adj" fmla="val 12000"/>
            </a:avLst>
          </a:prstGeom>
          <a:solidFill>
            <a:srgbClr val="160625"/>
          </a:solidFill>
          <a:ln w="11430">
            <a:solidFill>
              <a:srgbClr val="4B1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" y="2761488"/>
            <a:ext cx="91440" cy="786384"/>
          </a:xfrm>
          <a:prstGeom prst="rect">
            <a:avLst/>
          </a:prstGeom>
          <a:solidFill>
            <a:srgbClr val="FF2EFF"/>
          </a:solidFill>
          <a:ln w="3810">
            <a:solidFill>
              <a:srgbClr val="FF2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2907792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2EFF"/>
                </a:solidFill>
                <a:latin typeface="Consolas"/>
              </a:defRPr>
            </a:pPr>
            <a:r>
              <a:t>CSS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8" y="2926080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D9C5F2"/>
                </a:solidFill>
                <a:latin typeface="Consolas"/>
              </a:defRPr>
            </a:pPr>
            <a:r>
              <a:t>APPEARANCE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1648" y="2907792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F8F3FF"/>
                </a:solidFill>
                <a:latin typeface="Aptos"/>
              </a:defRPr>
            </a:pPr>
            <a:r>
              <a:t>The outfit: layout, colors, spacing, glow, and responsive screens.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" y="3767328"/>
            <a:ext cx="6675120" cy="786384"/>
          </a:xfrm>
          <a:prstGeom prst="roundRect">
            <a:avLst>
              <a:gd name="adj" fmla="val 12000"/>
            </a:avLst>
          </a:prstGeom>
          <a:solidFill>
            <a:srgbClr val="160625"/>
          </a:solidFill>
          <a:ln w="11430">
            <a:solidFill>
              <a:srgbClr val="4B1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6384" y="3767328"/>
            <a:ext cx="91440" cy="786384"/>
          </a:xfrm>
          <a:prstGeom prst="rect">
            <a:avLst/>
          </a:prstGeom>
          <a:solidFill>
            <a:srgbClr val="00EAF5"/>
          </a:solidFill>
          <a:ln w="3810">
            <a:solidFill>
              <a:srgbClr val="00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3913632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EAF5"/>
                </a:solidFill>
                <a:latin typeface="Consolas"/>
              </a:defRPr>
            </a:pPr>
            <a:r>
              <a:t>JAVASCRIPT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70048" y="3931920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D9C5F2"/>
                </a:solidFill>
                <a:latin typeface="Consolas"/>
              </a:defRPr>
            </a:pPr>
            <a:r>
              <a:t>BEHAVIOR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41648" y="3913632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F8F3FF"/>
                </a:solidFill>
                <a:latin typeface="Aptos"/>
              </a:defRPr>
            </a:pPr>
            <a:r>
              <a:t>The rules: input, timing, movement, score, collision, and states.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" y="4773168"/>
            <a:ext cx="6675120" cy="786384"/>
          </a:xfrm>
          <a:prstGeom prst="roundRect">
            <a:avLst>
              <a:gd name="adj" fmla="val 12000"/>
            </a:avLst>
          </a:prstGeom>
          <a:solidFill>
            <a:srgbClr val="160625"/>
          </a:solidFill>
          <a:ln w="11430">
            <a:solidFill>
              <a:srgbClr val="4B1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6384" y="4773168"/>
            <a:ext cx="91440" cy="786384"/>
          </a:xfrm>
          <a:prstGeom prst="rect">
            <a:avLst/>
          </a:prstGeom>
          <a:solidFill>
            <a:srgbClr val="8D36C9"/>
          </a:solidFill>
          <a:ln w="3810">
            <a:solidFill>
              <a:srgbClr val="8D3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4919472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8D36C9"/>
                </a:solidFill>
                <a:latin typeface="Consolas"/>
              </a:defRPr>
            </a:pPr>
            <a:r>
              <a:t>CANVAS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70048" y="4937760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D9C5F2"/>
                </a:solidFill>
                <a:latin typeface="Consolas"/>
              </a:defRPr>
            </a:pPr>
            <a:r>
              <a:t>PLAYFIELD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41648" y="4919472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F8F3FF"/>
                </a:solidFill>
                <a:latin typeface="Aptos"/>
              </a:defRPr>
            </a:pPr>
            <a:r>
              <a:t>The drawing board where ships, bullets, aliens, and effects appear.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1828800"/>
            <a:ext cx="3456432" cy="3456432"/>
          </a:xfrm>
          <a:prstGeom prst="roundRect">
            <a:avLst>
              <a:gd name="adj" fmla="val 12000"/>
            </a:avLst>
          </a:prstGeom>
          <a:solidFill>
            <a:srgbClr val="1C082D"/>
          </a:solidFill>
          <a:ln w="12700">
            <a:solidFill>
              <a:srgbClr val="662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6448" y="2084831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2EFF"/>
                </a:solidFill>
                <a:latin typeface="Consolas"/>
              </a:defRPr>
            </a:pPr>
            <a:r>
              <a:t>THE MENTAL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2633472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8F3FF"/>
                </a:solidFill>
                <a:latin typeface="Consolas"/>
              </a:defRPr>
            </a:pPr>
            <a:r>
              <a:t>HTML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297180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EAF5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3255264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8F3FF"/>
                </a:solidFill>
                <a:latin typeface="Consolas"/>
              </a:defRPr>
            </a:pPr>
            <a:r>
              <a:t>CSS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3602736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EAF5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65008" y="3867912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2EFF"/>
                </a:solidFill>
                <a:latin typeface="Consolas"/>
              </a:defRPr>
            </a:pPr>
            <a:r>
              <a:t>JavaScript + Canvas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6177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D9C5F2"/>
                </a:solidFill>
                <a:latin typeface="Aptos"/>
              </a:defRPr>
            </a:pPr>
            <a:r>
              <a:t>The browser brings the pieces 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03 / GET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8F3FF"/>
                </a:solidFill>
                <a:latin typeface="Aptos"/>
              </a:defRPr>
            </a:pPr>
            <a:r>
              <a:t>First: run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D9C5F2"/>
                </a:solidFill>
                <a:latin typeface="Aptos"/>
              </a:defRPr>
            </a:pPr>
            <a:r>
              <a:t>Your first checkpoint is not coding — it is getting the same working game on every computer.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" y="1444752"/>
            <a:ext cx="10991088" cy="0"/>
          </a:xfrm>
          <a:prstGeom prst="line">
            <a:avLst/>
          </a:prstGeom>
          <a:ln w="12700">
            <a:solidFill>
              <a:srgbClr val="602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" y="1444752"/>
            <a:ext cx="630936" cy="0"/>
          </a:xfrm>
          <a:prstGeom prst="line">
            <a:avLst/>
          </a:prstGeom>
          <a:ln w="27940">
            <a:solidFill>
              <a:srgbClr val="00E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10160">
            <a:solidFill>
              <a:srgbClr val="3D18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83680"/>
            <a:ext cx="6400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9E89B9"/>
                </a:solidFill>
                <a:latin typeface="Consolas"/>
              </a:defRPr>
            </a:pPr>
            <a:r>
              <a:t>TECHNOPIXEL • DAY 1 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37392" y="656539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783080"/>
            <a:ext cx="5212080" cy="1234440"/>
          </a:xfrm>
          <a:prstGeom prst="roundRect">
            <a:avLst>
              <a:gd name="adj" fmla="val 12000"/>
            </a:avLst>
          </a:prstGeom>
          <a:solidFill>
            <a:srgbClr val="170726"/>
          </a:solidFill>
          <a:ln w="12700">
            <a:solidFill>
              <a:srgbClr val="4B1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" y="1947672"/>
            <a:ext cx="50292" cy="905256"/>
          </a:xfrm>
          <a:prstGeom prst="rect">
            <a:avLst/>
          </a:prstGeom>
          <a:solidFill>
            <a:srgbClr val="00EAF5"/>
          </a:solidFill>
          <a:ln w="3810">
            <a:solidFill>
              <a:srgbClr val="00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78992" y="1984248"/>
            <a:ext cx="530352" cy="292608"/>
          </a:xfrm>
          <a:prstGeom prst="roundRect">
            <a:avLst>
              <a:gd name="adj" fmla="val 12000"/>
            </a:avLst>
          </a:prstGeom>
          <a:solidFill>
            <a:srgbClr val="260A3B"/>
          </a:solidFill>
          <a:ln w="10160">
            <a:solidFill>
              <a:srgbClr val="6D2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2144" y="2020824"/>
            <a:ext cx="384047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00EAF5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377440"/>
            <a:ext cx="46451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8F3FF"/>
                </a:solidFill>
                <a:latin typeface="Aptos"/>
              </a:defRPr>
            </a:pPr>
            <a:r>
              <a:t>Open VS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2816352"/>
            <a:ext cx="462686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70" b="0" i="0">
                <a:solidFill>
                  <a:srgbClr val="D9C5F2"/>
                </a:solidFill>
                <a:latin typeface="Aptos"/>
              </a:defRPr>
            </a:pPr>
            <a:r>
              <a:t>File → Open Folder → choose the project folder (Samplegame/).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783080"/>
            <a:ext cx="5212080" cy="1234440"/>
          </a:xfrm>
          <a:prstGeom prst="roundRect">
            <a:avLst>
              <a:gd name="adj" fmla="val 12000"/>
            </a:avLst>
          </a:prstGeom>
          <a:solidFill>
            <a:srgbClr val="170726"/>
          </a:solidFill>
          <a:ln w="12700">
            <a:solidFill>
              <a:srgbClr val="4B1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37376" y="1947672"/>
            <a:ext cx="50292" cy="905256"/>
          </a:xfrm>
          <a:prstGeom prst="rect">
            <a:avLst/>
          </a:prstGeom>
          <a:solidFill>
            <a:srgbClr val="FF2EFF"/>
          </a:solidFill>
          <a:ln w="3810">
            <a:solidFill>
              <a:srgbClr val="FF2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38544" y="1984248"/>
            <a:ext cx="530352" cy="292608"/>
          </a:xfrm>
          <a:prstGeom prst="roundRect">
            <a:avLst>
              <a:gd name="adj" fmla="val 12000"/>
            </a:avLst>
          </a:prstGeom>
          <a:solidFill>
            <a:srgbClr val="260A3B"/>
          </a:solidFill>
          <a:ln w="10160">
            <a:solidFill>
              <a:srgbClr val="6D2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11696" y="2020824"/>
            <a:ext cx="384047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FF2EF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544" y="2377440"/>
            <a:ext cx="46451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8F3FF"/>
                </a:solidFill>
                <a:latin typeface="Aptos"/>
              </a:defRPr>
            </a:pPr>
            <a:r>
              <a:t>Find index.html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544" y="2816352"/>
            <a:ext cx="462686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70" b="0" i="0">
                <a:solidFill>
                  <a:srgbClr val="D9C5F2"/>
                </a:solidFill>
                <a:latin typeface="Aptos"/>
              </a:defRPr>
            </a:pPr>
            <a:r>
              <a:t>Notice how it links styles.css and game.js.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3310128"/>
            <a:ext cx="5212080" cy="1234440"/>
          </a:xfrm>
          <a:prstGeom prst="roundRect">
            <a:avLst>
              <a:gd name="adj" fmla="val 12000"/>
            </a:avLst>
          </a:prstGeom>
          <a:solidFill>
            <a:srgbClr val="170726"/>
          </a:solidFill>
          <a:ln w="12700">
            <a:solidFill>
              <a:srgbClr val="4B1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7824" y="3474720"/>
            <a:ext cx="50292" cy="905256"/>
          </a:xfrm>
          <a:prstGeom prst="rect">
            <a:avLst/>
          </a:prstGeom>
          <a:solidFill>
            <a:srgbClr val="00EAF5"/>
          </a:solidFill>
          <a:ln w="3810">
            <a:solidFill>
              <a:srgbClr val="00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78992" y="3511296"/>
            <a:ext cx="530352" cy="292608"/>
          </a:xfrm>
          <a:prstGeom prst="roundRect">
            <a:avLst>
              <a:gd name="adj" fmla="val 12000"/>
            </a:avLst>
          </a:prstGeom>
          <a:solidFill>
            <a:srgbClr val="260A3B"/>
          </a:solidFill>
          <a:ln w="10160">
            <a:solidFill>
              <a:srgbClr val="6D2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52144" y="3547872"/>
            <a:ext cx="384047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00EAF5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3904488"/>
            <a:ext cx="46451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8F3FF"/>
                </a:solidFill>
                <a:latin typeface="Aptos"/>
              </a:defRPr>
            </a:pPr>
            <a:r>
              <a:t>Start Live Server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4343400"/>
            <a:ext cx="4626864" cy="1097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70" b="0" i="0">
                <a:solidFill>
                  <a:srgbClr val="D9C5F2"/>
                </a:solidFill>
                <a:latin typeface="Aptos"/>
              </a:defRPr>
            </a:pPr>
            <a:r>
              <a:t>Right-click index.html → Open with Live Server.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72784" y="3310128"/>
            <a:ext cx="5212080" cy="1234440"/>
          </a:xfrm>
          <a:prstGeom prst="roundRect">
            <a:avLst>
              <a:gd name="adj" fmla="val 12000"/>
            </a:avLst>
          </a:prstGeom>
          <a:solidFill>
            <a:srgbClr val="170726"/>
          </a:solidFill>
          <a:ln w="12700">
            <a:solidFill>
              <a:srgbClr val="4B1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37376" y="3474720"/>
            <a:ext cx="50292" cy="905256"/>
          </a:xfrm>
          <a:prstGeom prst="rect">
            <a:avLst/>
          </a:prstGeom>
          <a:solidFill>
            <a:srgbClr val="FF2EFF"/>
          </a:solidFill>
          <a:ln w="3810">
            <a:solidFill>
              <a:srgbClr val="FF2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38544" y="3511296"/>
            <a:ext cx="530352" cy="292608"/>
          </a:xfrm>
          <a:prstGeom prst="roundRect">
            <a:avLst>
              <a:gd name="adj" fmla="val 12000"/>
            </a:avLst>
          </a:prstGeom>
          <a:solidFill>
            <a:srgbClr val="260A3B"/>
          </a:solidFill>
          <a:ln w="10160">
            <a:solidFill>
              <a:srgbClr val="6D2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11696" y="3547872"/>
            <a:ext cx="384047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FF2EF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38544" y="3904488"/>
            <a:ext cx="46451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8F3FF"/>
                </a:solidFill>
                <a:latin typeface="Aptos"/>
              </a:defRPr>
            </a:pPr>
            <a:r>
              <a:t>Confirm the screen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38544" y="4343400"/>
            <a:ext cx="4626864" cy="1097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70" b="0" i="0">
                <a:solidFill>
                  <a:srgbClr val="D9C5F2"/>
                </a:solidFill>
                <a:latin typeface="Aptos"/>
              </a:defRPr>
            </a:pPr>
            <a:r>
              <a:t>Wait for loading to finish and check that the landing page appears.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8096" y="5074920"/>
            <a:ext cx="10808208" cy="713232"/>
          </a:xfrm>
          <a:prstGeom prst="roundRect">
            <a:avLst>
              <a:gd name="adj" fmla="val 12000"/>
            </a:avLst>
          </a:prstGeom>
          <a:solidFill>
            <a:srgbClr val="1A0729"/>
          </a:solidFill>
          <a:ln w="12700">
            <a:solidFill>
              <a:srgbClr val="5C23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9264" y="528523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0EAF5"/>
                </a:solidFill>
                <a:latin typeface="Consolas"/>
              </a:defRPr>
            </a:pPr>
            <a:r>
              <a:t>READY CHECK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67712" y="5230368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30" b="1" i="0">
                <a:solidFill>
                  <a:srgbClr val="F8F3FF"/>
                </a:solidFill>
                <a:latin typeface="Aptos"/>
              </a:defRPr>
            </a:pPr>
            <a:r>
              <a:t>Can every student see the TechNoPixel loading screen and reach the landing page?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5971032"/>
            <a:ext cx="10149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D9C5F2"/>
                </a:solidFill>
                <a:latin typeface="Aptos"/>
              </a:defRPr>
            </a:pPr>
            <a:r>
              <a:t>Tip: if the page is blank, check the browser console and verify every file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04 / PROJECT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8F3FF"/>
                </a:solidFill>
                <a:latin typeface="Aptos"/>
              </a:defRPr>
            </a:pPr>
            <a:r>
              <a:t>One game, three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D9C5F2"/>
                </a:solidFill>
                <a:latin typeface="Aptos"/>
              </a:defRPr>
            </a:pPr>
            <a:r>
              <a:t>Each screen is a different view of the same experience.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" y="1444752"/>
            <a:ext cx="10991088" cy="0"/>
          </a:xfrm>
          <a:prstGeom prst="line">
            <a:avLst/>
          </a:prstGeom>
          <a:ln w="12700">
            <a:solidFill>
              <a:srgbClr val="602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" y="1444752"/>
            <a:ext cx="630936" cy="0"/>
          </a:xfrm>
          <a:prstGeom prst="line">
            <a:avLst/>
          </a:prstGeom>
          <a:ln w="27940">
            <a:solidFill>
              <a:srgbClr val="00E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10160">
            <a:solidFill>
              <a:srgbClr val="3D18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83680"/>
            <a:ext cx="6400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9E89B9"/>
                </a:solidFill>
                <a:latin typeface="Consolas"/>
              </a:defRPr>
            </a:pPr>
            <a:r>
              <a:t>TECHNOPIXEL • DAY 1 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37392" y="656539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764792"/>
            <a:ext cx="4983480" cy="932688"/>
          </a:xfrm>
          <a:prstGeom prst="roundRect">
            <a:avLst>
              <a:gd name="adj" fmla="val 12000"/>
            </a:avLst>
          </a:prstGeom>
          <a:solidFill>
            <a:srgbClr val="160625"/>
          </a:solidFill>
          <a:ln w="12700">
            <a:solidFill>
              <a:srgbClr val="4B1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1911095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240939"/>
          </a:solidFill>
          <a:ln w="10160">
            <a:solidFill>
              <a:srgbClr val="6A2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947672"/>
            <a:ext cx="127101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FF2EFF"/>
                </a:solidFill>
                <a:latin typeface="Consolas"/>
              </a:defRPr>
            </a:pPr>
            <a:r>
              <a:t>LOADING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1920240"/>
            <a:ext cx="290779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0" i="0">
                <a:solidFill>
                  <a:srgbClr val="F8F3FF"/>
                </a:solidFill>
                <a:latin typeface="Aptos"/>
              </a:defRPr>
            </a:pPr>
            <a:r>
              <a:t>Loads image assets; shows progress and the falling katakana animation.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69748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2EF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999232"/>
            <a:ext cx="4983480" cy="932688"/>
          </a:xfrm>
          <a:prstGeom prst="roundRect">
            <a:avLst>
              <a:gd name="adj" fmla="val 12000"/>
            </a:avLst>
          </a:prstGeom>
          <a:solidFill>
            <a:srgbClr val="160625"/>
          </a:solidFill>
          <a:ln w="12700">
            <a:solidFill>
              <a:srgbClr val="4B1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" y="3145536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240939"/>
          </a:solidFill>
          <a:ln w="10160">
            <a:solidFill>
              <a:srgbClr val="6A2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182112"/>
            <a:ext cx="127101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00EAF5"/>
                </a:solidFill>
                <a:latin typeface="Consolas"/>
              </a:defRPr>
            </a:pPr>
            <a:r>
              <a:t>LANDING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3154680"/>
            <a:ext cx="290779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0" i="0">
                <a:solidFill>
                  <a:srgbClr val="F8F3FF"/>
                </a:solidFill>
                <a:latin typeface="Aptos"/>
              </a:defRPr>
            </a:pPr>
            <a:r>
              <a:t>Shows title, controls, enemy types, power-ups, story, and music toggle.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9319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2EF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233672"/>
            <a:ext cx="4983480" cy="932688"/>
          </a:xfrm>
          <a:prstGeom prst="roundRect">
            <a:avLst>
              <a:gd name="adj" fmla="val 12000"/>
            </a:avLst>
          </a:prstGeom>
          <a:solidFill>
            <a:srgbClr val="160625"/>
          </a:solidFill>
          <a:ln w="12700">
            <a:solidFill>
              <a:srgbClr val="4B1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2688" y="4379976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240939"/>
          </a:solidFill>
          <a:ln w="10160">
            <a:solidFill>
              <a:srgbClr val="6A2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416552"/>
            <a:ext cx="127101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8D36C9"/>
                </a:solidFill>
                <a:latin typeface="Consolas"/>
              </a:defRPr>
            </a:pPr>
            <a:r>
              <a:t>GAME CANVAS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42032" y="4389120"/>
            <a:ext cx="290779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0" i="0">
                <a:solidFill>
                  <a:srgbClr val="F8F3FF"/>
                </a:solidFill>
                <a:latin typeface="Aptos"/>
              </a:defRPr>
            </a:pPr>
            <a:r>
              <a:t>Runs the arcade loop and shows pause, wave-cleared, victory, and game-over overlays.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9904" y="1847088"/>
            <a:ext cx="5303520" cy="2670048"/>
          </a:xfrm>
          <a:prstGeom prst="roundRect">
            <a:avLst>
              <a:gd name="adj" fmla="val 12000"/>
            </a:avLst>
          </a:prstGeom>
          <a:solidFill>
            <a:srgbClr val="10051D"/>
          </a:solidFill>
          <a:ln w="15240">
            <a:solidFill>
              <a:srgbClr val="702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(20261028-12190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911095"/>
            <a:ext cx="5175504" cy="254203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199632" y="4718304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00EAF5"/>
                </a:solidFill>
                <a:latin typeface="Consolas"/>
              </a:defRPr>
            </a:pPr>
            <a:r>
              <a:t>index.html = structure     styles.css = appearance     game.js =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248656"/>
            <a:ext cx="50474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D9C5F2"/>
                </a:solidFill>
                <a:latin typeface="Aptos"/>
              </a:defRPr>
            </a:pPr>
            <a:r>
              <a:t>The same game state controls what updates and what the player sees.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05 / ASSETS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8F3FF"/>
                </a:solidFill>
                <a:latin typeface="Aptos"/>
              </a:defRPr>
            </a:pPr>
            <a:r>
              <a:t>Load before you draw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D9C5F2"/>
                </a:solidFill>
                <a:latin typeface="Aptos"/>
              </a:defRPr>
            </a:pPr>
            <a:r>
              <a:t>Images and audio are resources. Load them once, then reuse them throughout the game.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" y="1444752"/>
            <a:ext cx="10991088" cy="0"/>
          </a:xfrm>
          <a:prstGeom prst="line">
            <a:avLst/>
          </a:prstGeom>
          <a:ln w="12700">
            <a:solidFill>
              <a:srgbClr val="602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" y="1444752"/>
            <a:ext cx="630936" cy="0"/>
          </a:xfrm>
          <a:prstGeom prst="line">
            <a:avLst/>
          </a:prstGeom>
          <a:ln w="27940">
            <a:solidFill>
              <a:srgbClr val="00E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10160">
            <a:solidFill>
              <a:srgbClr val="3D18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83680"/>
            <a:ext cx="6400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9E89B9"/>
                </a:solidFill>
                <a:latin typeface="Consolas"/>
              </a:defRPr>
            </a:pPr>
            <a:r>
              <a:t>TECHNOPIXEL • DAY 1 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37392" y="656539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74519"/>
            <a:ext cx="2615184" cy="1600200"/>
          </a:xfrm>
          <a:prstGeom prst="roundRect">
            <a:avLst>
              <a:gd name="adj" fmla="val 12000"/>
            </a:avLst>
          </a:prstGeom>
          <a:solidFill>
            <a:srgbClr val="170726"/>
          </a:solidFill>
          <a:ln w="12700">
            <a:solidFill>
              <a:srgbClr val="4F2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048256"/>
            <a:ext cx="22494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00EAF5"/>
                </a:solidFill>
                <a:latin typeface="Consolas"/>
              </a:defRPr>
            </a:pPr>
            <a:r>
              <a:t>SCENE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404872"/>
            <a:ext cx="22677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60" b="1" i="0">
                <a:solidFill>
                  <a:srgbClr val="F8F3FF"/>
                </a:solidFill>
                <a:latin typeface="Consolas"/>
              </a:defRPr>
            </a:pPr>
            <a:r>
              <a:t>Background.png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60" b="1" i="0">
                <a:solidFill>
                  <a:srgbClr val="F8F3FF"/>
                </a:solidFill>
                <a:latin typeface="Consolas"/>
              </a:defRPr>
            </a:pPr>
            <a:r>
              <a:t>newLogo.png • TEXT.png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008376"/>
            <a:ext cx="22677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 i="0">
                <a:solidFill>
                  <a:srgbClr val="D9C5F2"/>
                </a:solidFill>
                <a:latin typeface="Aptos"/>
              </a:defRPr>
            </a:pPr>
            <a:r>
              <a:t>Background + brand art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1874519"/>
            <a:ext cx="2615184" cy="1600200"/>
          </a:xfrm>
          <a:prstGeom prst="roundRect">
            <a:avLst>
              <a:gd name="adj" fmla="val 12000"/>
            </a:avLst>
          </a:prstGeom>
          <a:solidFill>
            <a:srgbClr val="170726"/>
          </a:solidFill>
          <a:ln w="12700">
            <a:solidFill>
              <a:srgbClr val="4F2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0" y="2048256"/>
            <a:ext cx="22494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FF2EFF"/>
                </a:solidFill>
                <a:latin typeface="Consolas"/>
              </a:defRPr>
            </a:pPr>
            <a:r>
              <a:t>PLAYER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2404872"/>
            <a:ext cx="22677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60" b="1" i="0">
                <a:solidFill>
                  <a:srgbClr val="F8F3FF"/>
                </a:solidFill>
                <a:latin typeface="Consolas"/>
              </a:defRPr>
            </a:pPr>
            <a:r>
              <a:t>technospaceship.png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60" b="1" i="0">
                <a:solidFill>
                  <a:srgbClr val="F8F3FF"/>
                </a:solidFill>
                <a:latin typeface="Consolas"/>
              </a:defRPr>
            </a:pPr>
            <a:r>
              <a:t>bullet.png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3008376"/>
            <a:ext cx="22677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 i="0">
                <a:solidFill>
                  <a:srgbClr val="D9C5F2"/>
                </a:solidFill>
                <a:latin typeface="Aptos"/>
              </a:defRPr>
            </a:pPr>
            <a:r>
              <a:t>Ship + projectile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9088" y="1874519"/>
            <a:ext cx="2615184" cy="1600200"/>
          </a:xfrm>
          <a:prstGeom prst="roundRect">
            <a:avLst>
              <a:gd name="adj" fmla="val 12000"/>
            </a:avLst>
          </a:prstGeom>
          <a:solidFill>
            <a:srgbClr val="170726"/>
          </a:solidFill>
          <a:ln w="12700">
            <a:solidFill>
              <a:srgbClr val="4F2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2048256"/>
            <a:ext cx="22494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FF73E7"/>
                </a:solidFill>
                <a:latin typeface="Consolas"/>
              </a:defRPr>
            </a:pPr>
            <a:r>
              <a:t>ENEMIES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404872"/>
            <a:ext cx="22677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60" b="1" i="0">
                <a:solidFill>
                  <a:srgbClr val="F8F3FF"/>
                </a:solidFill>
                <a:latin typeface="Consolas"/>
              </a:defRPr>
            </a:pPr>
            <a:r>
              <a:t>enemy1–4.png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60" b="1" i="0">
                <a:solidFill>
                  <a:srgbClr val="F8F3FF"/>
                </a:solidFill>
                <a:latin typeface="Consolas"/>
              </a:defRPr>
            </a:pPr>
            <a:r>
              <a:t>sidenemy1–4.png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008376"/>
            <a:ext cx="22677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 i="0">
                <a:solidFill>
                  <a:srgbClr val="D9C5F2"/>
                </a:solidFill>
                <a:latin typeface="Aptos"/>
              </a:defRPr>
            </a:pPr>
            <a:r>
              <a:t>Formation + side sprites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72015" y="1874519"/>
            <a:ext cx="2615184" cy="1600200"/>
          </a:xfrm>
          <a:prstGeom prst="roundRect">
            <a:avLst>
              <a:gd name="adj" fmla="val 12000"/>
            </a:avLst>
          </a:prstGeom>
          <a:solidFill>
            <a:srgbClr val="170726"/>
          </a:solidFill>
          <a:ln w="12700">
            <a:solidFill>
              <a:srgbClr val="4F2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54895" y="2048256"/>
            <a:ext cx="22494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8D36C9"/>
                </a:solidFill>
                <a:latin typeface="Consolas"/>
              </a:defRPr>
            </a:pPr>
            <a:r>
              <a:t>POWER-UPS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5" y="2404872"/>
            <a:ext cx="22677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60" b="1" i="0">
                <a:solidFill>
                  <a:srgbClr val="F8F3FF"/>
                </a:solidFill>
                <a:latin typeface="Consolas"/>
              </a:defRPr>
            </a:pPr>
            <a:r>
              <a:t>heart • shield • multishot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60" b="1" i="0">
                <a:solidFill>
                  <a:srgbClr val="F8F3FF"/>
                </a:solidFill>
                <a:latin typeface="Consolas"/>
              </a:defRPr>
            </a:pPr>
            <a:r>
              <a:t>big bullet • rapid shot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54895" y="3008376"/>
            <a:ext cx="22677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80" b="0" i="0">
                <a:solidFill>
                  <a:srgbClr val="D9C5F2"/>
                </a:solidFill>
                <a:latin typeface="Aptos"/>
              </a:defRPr>
            </a:pPr>
            <a:r>
              <a:t>Five pickup effects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3822191"/>
            <a:ext cx="6565392" cy="1508760"/>
          </a:xfrm>
          <a:prstGeom prst="roundRect">
            <a:avLst>
              <a:gd name="adj" fmla="val 12000"/>
            </a:avLst>
          </a:prstGeom>
          <a:solidFill>
            <a:srgbClr val="0E0419"/>
          </a:solidFill>
          <a:ln w="13970">
            <a:solidFill>
              <a:srgbClr val="542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6112" y="3986783"/>
            <a:ext cx="54864" cy="256032"/>
          </a:xfrm>
          <a:prstGeom prst="rect">
            <a:avLst/>
          </a:prstGeom>
          <a:solidFill>
            <a:srgbClr val="00EAF5"/>
          </a:solidFill>
          <a:ln w="2540">
            <a:solidFill>
              <a:srgbClr val="00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5" y="3986783"/>
            <a:ext cx="6062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00EAF5"/>
                </a:solidFill>
                <a:latin typeface="Consolas"/>
              </a:defRPr>
            </a:pPr>
            <a:r>
              <a:t>ASSET-LOADING IDEA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" y="4334256"/>
            <a:ext cx="6163055" cy="795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0" b="0" i="0">
                <a:solidFill>
                  <a:srgbClr val="F2E8FF"/>
                </a:solidFill>
                <a:latin typeface="Consolas"/>
              </a:defRPr>
            </a:pPr>
            <a:r>
              <a:t>const img = new Image();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20" b="0" i="0">
                <a:solidFill>
                  <a:srgbClr val="F2E8FF"/>
                </a:solidFill>
                <a:latin typeface="Consolas"/>
              </a:defRPr>
            </a:pPr>
            <a:r>
              <a:t>img.onload = () =&gt;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20" b="0" i="0">
                <a:solidFill>
                  <a:srgbClr val="F2E8FF"/>
                </a:solidFill>
                <a:latin typeface="Consolas"/>
              </a:defRPr>
            </a:pPr>
            <a:r>
              <a:t>  imgs[key] = img;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20" b="0" i="0">
                <a:solidFill>
                  <a:srgbClr val="F2E8FF"/>
                </a:solidFill>
                <a:latin typeface="Consolas"/>
              </a:defRPr>
            </a:pPr>
            <a:r>
              <a:t>  updateLoadingProgress();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20" b="0" i="0">
                <a:solidFill>
                  <a:srgbClr val="F2E8FF"/>
                </a:solidFill>
                <a:latin typeface="Consolas"/>
              </a:defRPr>
            </a:pPr>
            <a:r>
              <a:t>};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20" b="0" i="0">
                <a:solidFill>
                  <a:srgbClr val="F2E8FF"/>
                </a:solidFill>
                <a:latin typeface="Consolas"/>
              </a:defRPr>
            </a:pPr>
            <a:r>
              <a:t>img.src = url;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4846320"/>
            <a:ext cx="6236208" cy="0"/>
          </a:xfrm>
          <a:prstGeom prst="line">
            <a:avLst/>
          </a:prstGeom>
          <a:ln w="8890">
            <a:solidFill>
              <a:srgbClr val="3C1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50976" y="4937760"/>
            <a:ext cx="6163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AD9CC8"/>
                </a:solidFill>
                <a:latin typeface="Aptos"/>
              </a:defRPr>
            </a:pPr>
            <a:r>
              <a:t>Set the source once; use the loaded image later.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71231" y="3822191"/>
            <a:ext cx="3794760" cy="1508760"/>
          </a:xfrm>
          <a:prstGeom prst="roundRect">
            <a:avLst>
              <a:gd name="adj" fmla="val 12000"/>
            </a:avLst>
          </a:prstGeom>
          <a:solidFill>
            <a:srgbClr val="1D082E"/>
          </a:solidFill>
          <a:ln w="12700">
            <a:solidFill>
              <a:srgbClr val="612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27264" y="404164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FF2EFF"/>
                </a:solidFill>
                <a:latin typeface="Consolas"/>
              </a:defRPr>
            </a:pPr>
            <a:r>
              <a:t>ASSET CHECK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4370832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30" b="0" i="0">
                <a:solidFill>
                  <a:srgbClr val="F8F3FF"/>
                </a:solidFill>
                <a:latin typeface="Aptos"/>
              </a:defRPr>
            </a:pPr>
            <a:r>
              <a:t>The actual Big Bullet file is bigbulletmoto.png — verify the path before debugging the drawing code.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5705856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D9C5F2"/>
                </a:solidFill>
                <a:latin typeface="Aptos"/>
              </a:defRPr>
            </a:pPr>
            <a:r>
              <a:t>If an image fails, the game should use a fallback instead of crashing.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3822191"/>
            <a:ext cx="6565392" cy="1508760"/>
          </a:xfrm>
          <a:prstGeom prst="roundRect">
            <a:avLst>
              <a:gd name="adj" fmla="val 12000"/>
            </a:avLst>
          </a:prstGeom>
          <a:solidFill>
            <a:srgbClr val="0E0419"/>
          </a:solidFill>
          <a:ln w="13970">
            <a:solidFill>
              <a:srgbClr val="542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6112" y="3986783"/>
            <a:ext cx="54864" cy="256032"/>
          </a:xfrm>
          <a:prstGeom prst="rect">
            <a:avLst/>
          </a:prstGeom>
          <a:solidFill>
            <a:srgbClr val="00EAF5"/>
          </a:solidFill>
          <a:ln w="2540">
            <a:solidFill>
              <a:srgbClr val="00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2415" y="3986783"/>
            <a:ext cx="6062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00EAF5"/>
                </a:solidFill>
                <a:latin typeface="Consolas"/>
              </a:defRPr>
            </a:pPr>
            <a:r>
              <a:t>ASSET-LOADING IDEA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" y="4334256"/>
            <a:ext cx="6163055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60" b="0" i="0">
                <a:solidFill>
                  <a:srgbClr val="F2E8FF"/>
                </a:solidFill>
                <a:latin typeface="Consolas"/>
              </a:defRPr>
            </a:pPr>
            <a:r>
              <a:t>const img = new Image();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60" b="0" i="0">
                <a:solidFill>
                  <a:srgbClr val="F2E8FF"/>
                </a:solidFill>
                <a:latin typeface="Consolas"/>
              </a:defRPr>
            </a:pPr>
            <a:r>
              <a:t>img.onload = () =&gt; imgs[key] = img;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60" b="0" i="0">
                <a:solidFill>
                  <a:srgbClr val="F2E8FF"/>
                </a:solidFill>
                <a:latin typeface="Consolas"/>
              </a:defRPr>
            </a:pPr>
            <a:r>
              <a:t>img.onerror = () =&gt; imgs[key] = null;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60" b="0" i="0">
                <a:solidFill>
                  <a:srgbClr val="F2E8FF"/>
                </a:solidFill>
                <a:latin typeface="Consolas"/>
              </a:defRPr>
            </a:pPr>
            <a:r>
              <a:t>img.src = url;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" y="4956048"/>
            <a:ext cx="61081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9" b="0" i="0">
                <a:solidFill>
                  <a:srgbClr val="AD9CC8"/>
                </a:solidFill>
                <a:latin typeface="Aptos"/>
              </a:defRPr>
            </a:pPr>
            <a:r>
              <a:t>Load once, save the image, and handle missing files.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9808" y="3822191"/>
            <a:ext cx="6565392" cy="1508760"/>
          </a:xfrm>
          <a:prstGeom prst="roundRect">
            <a:avLst>
              <a:gd name="adj" fmla="val 12000"/>
            </a:avLst>
          </a:prstGeom>
          <a:solidFill>
            <a:srgbClr val="0E0419"/>
          </a:solidFill>
          <a:ln w="13970">
            <a:solidFill>
              <a:srgbClr val="542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6112" y="3986783"/>
            <a:ext cx="54864" cy="256032"/>
          </a:xfrm>
          <a:prstGeom prst="rect">
            <a:avLst/>
          </a:prstGeom>
          <a:solidFill>
            <a:srgbClr val="00EAF5"/>
          </a:solidFill>
          <a:ln w="2540">
            <a:solidFill>
              <a:srgbClr val="00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2415" y="3986783"/>
            <a:ext cx="6062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00EAF5"/>
                </a:solidFill>
                <a:latin typeface="Consolas"/>
              </a:defRPr>
            </a:pPr>
            <a:r>
              <a:t>ASSET-LOADING IDEA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" y="4334256"/>
            <a:ext cx="6163055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60" b="0" i="0">
                <a:solidFill>
                  <a:srgbClr val="F2E8FF"/>
                </a:solidFill>
                <a:latin typeface="Consolas"/>
              </a:defRPr>
            </a:pPr>
            <a:r>
              <a:t>const img = new Image();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60" b="0" i="0">
                <a:solidFill>
                  <a:srgbClr val="F2E8FF"/>
                </a:solidFill>
                <a:latin typeface="Consolas"/>
              </a:defRPr>
            </a:pPr>
            <a:r>
              <a:t>img.onload = () =&gt; imgs[key] = img;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60" b="0" i="0">
                <a:solidFill>
                  <a:srgbClr val="F2E8FF"/>
                </a:solidFill>
                <a:latin typeface="Consolas"/>
              </a:defRPr>
            </a:pPr>
            <a:r>
              <a:t>img.onerror = () =&gt; imgs[key] = null;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60" b="0" i="0">
                <a:solidFill>
                  <a:srgbClr val="F2E8FF"/>
                </a:solidFill>
                <a:latin typeface="Consolas"/>
              </a:defRPr>
            </a:pPr>
            <a:r>
              <a:t>img.src = url;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06 / MECHANIC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8F3FF"/>
                </a:solidFill>
                <a:latin typeface="Aptos"/>
              </a:defRPr>
            </a:pPr>
            <a:r>
              <a:t>Move the player 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D9C5F2"/>
                </a:solidFill>
                <a:latin typeface="Aptos"/>
              </a:defRPr>
            </a:pPr>
            <a:r>
              <a:t>Input is recorded first; the game checks that input while it updates each frame.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" y="1444752"/>
            <a:ext cx="10991088" cy="0"/>
          </a:xfrm>
          <a:prstGeom prst="line">
            <a:avLst/>
          </a:prstGeom>
          <a:ln w="12700">
            <a:solidFill>
              <a:srgbClr val="602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" y="1444752"/>
            <a:ext cx="630936" cy="0"/>
          </a:xfrm>
          <a:prstGeom prst="line">
            <a:avLst/>
          </a:prstGeom>
          <a:ln w="27940">
            <a:solidFill>
              <a:srgbClr val="00E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10160">
            <a:solidFill>
              <a:srgbClr val="3D18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83680"/>
            <a:ext cx="6400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9E89B9"/>
                </a:solidFill>
                <a:latin typeface="Consolas"/>
              </a:defRPr>
            </a:pPr>
            <a:r>
              <a:t>TECHNOPIXEL • DAY 1 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37392" y="656539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764792"/>
            <a:ext cx="6217920" cy="2834640"/>
          </a:xfrm>
          <a:prstGeom prst="roundRect">
            <a:avLst>
              <a:gd name="adj" fmla="val 12000"/>
            </a:avLst>
          </a:prstGeom>
          <a:solidFill>
            <a:srgbClr val="0E0419"/>
          </a:solidFill>
          <a:ln w="13970">
            <a:solidFill>
              <a:srgbClr val="542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6112" y="1929384"/>
            <a:ext cx="54864" cy="256032"/>
          </a:xfrm>
          <a:prstGeom prst="rect">
            <a:avLst/>
          </a:prstGeom>
          <a:solidFill>
            <a:srgbClr val="00EAF5"/>
          </a:solidFill>
          <a:ln w="2540">
            <a:solidFill>
              <a:srgbClr val="00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5" y="1929384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00EAF5"/>
                </a:solidFill>
                <a:latin typeface="Consolas"/>
              </a:defRPr>
            </a:pPr>
            <a:r>
              <a:t>KEYBOARD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2276856"/>
            <a:ext cx="5815583" cy="2121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2E8FF"/>
                </a:solidFill>
                <a:latin typeface="Consolas"/>
              </a:defRPr>
            </a:pPr>
            <a:r>
              <a:t>const keys = {};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2E8FF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2E8FF"/>
                </a:solidFill>
                <a:latin typeface="Consolas"/>
              </a:defRPr>
            </a:pPr>
            <a:r>
              <a:t>window.addEventListener('keydown', e =&gt;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2E8FF"/>
                </a:solidFill>
                <a:latin typeface="Consolas"/>
              </a:defRPr>
            </a:pPr>
            <a:r>
              <a:t>  keys[e.code] = true;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2E8FF"/>
                </a:solidFill>
                <a:latin typeface="Consolas"/>
              </a:defRPr>
            </a:pPr>
            <a:r>
              <a:t>});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2E8FF"/>
                </a:solidFill>
                <a:latin typeface="Consolas"/>
              </a:defRPr>
            </a:pPr>
            <a:r>
              <a:t>window.addEventListener('keyup', e =&gt;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2E8FF"/>
                </a:solidFill>
                <a:latin typeface="Consolas"/>
              </a:defRPr>
            </a:pPr>
            <a:r>
              <a:t>  keys[e.code] = false;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2E8FF"/>
                </a:solidFill>
                <a:latin typeface="Consolas"/>
              </a:defRPr>
            </a:pPr>
            <a:r>
              <a:t>});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4114800"/>
            <a:ext cx="5888736" cy="0"/>
          </a:xfrm>
          <a:prstGeom prst="line">
            <a:avLst/>
          </a:prstGeom>
          <a:ln w="8890">
            <a:solidFill>
              <a:srgbClr val="3C1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50976" y="4206240"/>
            <a:ext cx="58155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AD9CC8"/>
                </a:solidFill>
                <a:latin typeface="Aptos"/>
              </a:defRPr>
            </a:pPr>
            <a:r>
              <a:t>Pressed = true. Released = false. Think of a light switch.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1764792"/>
            <a:ext cx="4160520" cy="2834640"/>
          </a:xfrm>
          <a:prstGeom prst="roundRect">
            <a:avLst>
              <a:gd name="adj" fmla="val 12000"/>
            </a:avLst>
          </a:prstGeom>
          <a:solidFill>
            <a:srgbClr val="0E0419"/>
          </a:solidFill>
          <a:ln w="13970">
            <a:solidFill>
              <a:srgbClr val="542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70064" y="1929384"/>
            <a:ext cx="54864" cy="256032"/>
          </a:xfrm>
          <a:prstGeom prst="rect">
            <a:avLst/>
          </a:prstGeom>
          <a:solidFill>
            <a:srgbClr val="FF2EFF"/>
          </a:solidFill>
          <a:ln w="2540">
            <a:solidFill>
              <a:srgbClr val="FF2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16368" y="192938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FF2EFF"/>
                </a:solidFill>
                <a:latin typeface="Consolas"/>
              </a:defRPr>
            </a:pPr>
            <a:r>
              <a:t>MOVEMENT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2276856"/>
            <a:ext cx="3758183" cy="2121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70" b="0" i="0">
                <a:solidFill>
                  <a:srgbClr val="F2E8FF"/>
                </a:solidFill>
                <a:latin typeface="Consolas"/>
              </a:defRPr>
            </a:pPr>
            <a:r>
              <a:t>let dx = 0;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70" b="0" i="0">
                <a:solidFill>
                  <a:srgbClr val="F2E8FF"/>
                </a:solidFill>
                <a:latin typeface="Consolas"/>
              </a:defRPr>
            </a:pPr>
            <a:r>
              <a:t>if (keys['ArrowLeft'] || keys['KeyA']) dx = -1;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70" b="0" i="0">
                <a:solidFill>
                  <a:srgbClr val="F2E8FF"/>
                </a:solidFill>
                <a:latin typeface="Consolas"/>
              </a:defRPr>
            </a:pPr>
            <a:r>
              <a:t>if (keys['ArrowRight'] || keys['KeyD']) dx = 1;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70" b="0" i="0">
                <a:solidFill>
                  <a:srgbClr val="F2E8FF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70" b="0" i="0">
                <a:solidFill>
                  <a:srgbClr val="F2E8FF"/>
                </a:solidFill>
                <a:latin typeface="Consolas"/>
              </a:defRPr>
            </a:pPr>
            <a:r>
              <a:t>player.x += dx * player.speed;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70" b="0" i="0">
                <a:solidFill>
                  <a:srgbClr val="F2E8FF"/>
                </a:solidFill>
                <a:latin typeface="Consolas"/>
              </a:defRPr>
            </a:pPr>
            <a:r>
              <a:t>player.x = Math.max(0,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70" b="0" i="0">
                <a:solidFill>
                  <a:srgbClr val="F2E8FF"/>
                </a:solidFill>
                <a:latin typeface="Consolas"/>
              </a:defRPr>
            </a:pPr>
            <a:r>
              <a:t>  Math.min(CONFIG.CANVAS_W - player.w, player.x)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70" b="0" i="0">
                <a:solidFill>
                  <a:srgbClr val="F2E8FF"/>
                </a:solidFill>
                <a:latin typeface="Consolas"/>
              </a:defRPr>
            </a:pPr>
            <a:r>
              <a:t>);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88352" y="4114800"/>
            <a:ext cx="3831336" cy="0"/>
          </a:xfrm>
          <a:prstGeom prst="line">
            <a:avLst/>
          </a:prstGeom>
          <a:ln w="8890">
            <a:solidFill>
              <a:srgbClr val="3C1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424928" y="4206240"/>
            <a:ext cx="37581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AD9CC8"/>
                </a:solidFill>
                <a:latin typeface="Aptos"/>
              </a:defRPr>
            </a:pPr>
            <a:r>
              <a:t>Clamp the position so the ship stays on screen.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919472"/>
            <a:ext cx="10607040" cy="758952"/>
          </a:xfrm>
          <a:prstGeom prst="roundRect">
            <a:avLst>
              <a:gd name="adj" fmla="val 12000"/>
            </a:avLst>
          </a:prstGeom>
          <a:solidFill>
            <a:srgbClr val="1B072A"/>
          </a:solidFill>
          <a:ln w="12700">
            <a:solidFill>
              <a:srgbClr val="592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78992" y="5148072"/>
            <a:ext cx="1005840" cy="292608"/>
          </a:xfrm>
          <a:prstGeom prst="roundRect">
            <a:avLst>
              <a:gd name="adj" fmla="val 12000"/>
            </a:avLst>
          </a:prstGeom>
          <a:solidFill>
            <a:srgbClr val="250A3A"/>
          </a:solidFill>
          <a:ln w="10160">
            <a:solidFill>
              <a:srgbClr val="542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52144" y="5184648"/>
            <a:ext cx="8595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0EAF5"/>
                </a:solidFill>
                <a:latin typeface="Consolas"/>
              </a:defRPr>
            </a:pPr>
            <a:r>
              <a:t>A / 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184648"/>
            <a:ext cx="12344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8F3FF"/>
                </a:solidFill>
                <a:latin typeface="Consolas"/>
              </a:defRPr>
            </a:pPr>
            <a:r>
              <a:t>MOVE LEFT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49039" y="5148072"/>
            <a:ext cx="1005840" cy="292608"/>
          </a:xfrm>
          <a:prstGeom prst="roundRect">
            <a:avLst>
              <a:gd name="adj" fmla="val 12000"/>
            </a:avLst>
          </a:prstGeom>
          <a:solidFill>
            <a:srgbClr val="250A3A"/>
          </a:solidFill>
          <a:ln w="10160">
            <a:solidFill>
              <a:srgbClr val="542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22191" y="5184648"/>
            <a:ext cx="8595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D /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3752" y="5184648"/>
            <a:ext cx="14173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8F3FF"/>
                </a:solidFill>
                <a:latin typeface="Consolas"/>
              </a:defRPr>
            </a:pPr>
            <a:r>
              <a:t>MOVE RIGHT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129784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D9C5F2"/>
                </a:solidFill>
                <a:latin typeface="Consolas"/>
              </a:defRPr>
            </a:pPr>
            <a:r>
              <a:t>x = horizontal position  •  speed = distance per update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1764792"/>
            <a:ext cx="6217920" cy="2834640"/>
          </a:xfrm>
          <a:prstGeom prst="roundRect">
            <a:avLst>
              <a:gd name="adj" fmla="val 12000"/>
            </a:avLst>
          </a:prstGeom>
          <a:solidFill>
            <a:srgbClr val="0E0419"/>
          </a:solidFill>
          <a:ln w="13970">
            <a:solidFill>
              <a:srgbClr val="542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6112" y="1929384"/>
            <a:ext cx="54864" cy="256032"/>
          </a:xfrm>
          <a:prstGeom prst="rect">
            <a:avLst/>
          </a:prstGeom>
          <a:solidFill>
            <a:srgbClr val="00EAF5"/>
          </a:solidFill>
          <a:ln w="2540">
            <a:solidFill>
              <a:srgbClr val="00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1929384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00EAF5"/>
                </a:solidFill>
                <a:latin typeface="Consolas"/>
              </a:defRPr>
            </a:pPr>
            <a:r>
              <a:t>KEYBOARD STATE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" y="2276856"/>
            <a:ext cx="5815583" cy="2395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F2E8FF"/>
                </a:solidFill>
                <a:latin typeface="Consolas"/>
              </a:defRPr>
            </a:pPr>
            <a:r>
              <a:t>const keys = {};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F2E8FF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F2E8FF"/>
                </a:solidFill>
                <a:latin typeface="Consolas"/>
              </a:defRPr>
            </a:pPr>
            <a:r>
              <a:t>window.addEventListener('keydown', e =&gt;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F2E8FF"/>
                </a:solidFill>
                <a:latin typeface="Consolas"/>
              </a:defRPr>
            </a:pPr>
            <a:r>
              <a:t>  keys[e.code] = true;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F2E8FF"/>
                </a:solidFill>
                <a:latin typeface="Consolas"/>
              </a:defRPr>
            </a:pPr>
            <a:r>
              <a:t>});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F2E8FF"/>
                </a:solidFill>
                <a:latin typeface="Consolas"/>
              </a:defRPr>
            </a:pPr>
            <a:r>
              <a:t>window.addEventListener('keyup', e =&gt;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F2E8FF"/>
                </a:solidFill>
                <a:latin typeface="Consolas"/>
              </a:defRPr>
            </a:pPr>
            <a:r>
              <a:t>  keys[e.code] = false;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F2E8FF"/>
                </a:solidFill>
                <a:latin typeface="Consolas"/>
              </a:defRPr>
            </a:pPr>
            <a:r>
              <a:t>});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4400" y="4096512"/>
            <a:ext cx="5888736" cy="0"/>
          </a:xfrm>
          <a:prstGeom prst="line">
            <a:avLst/>
          </a:prstGeom>
          <a:ln w="8890">
            <a:solidFill>
              <a:srgbClr val="3C1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50976" y="4215384"/>
            <a:ext cx="5779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AD9CC8"/>
                </a:solidFill>
                <a:latin typeface="Aptos"/>
              </a:defRPr>
            </a:pPr>
            <a:r>
              <a:t>Pressed = true. Released = false — like a light switch.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23760" y="1764792"/>
            <a:ext cx="4160520" cy="2834640"/>
          </a:xfrm>
          <a:prstGeom prst="roundRect">
            <a:avLst>
              <a:gd name="adj" fmla="val 12000"/>
            </a:avLst>
          </a:prstGeom>
          <a:solidFill>
            <a:srgbClr val="0E0419"/>
          </a:solidFill>
          <a:ln w="13970">
            <a:solidFill>
              <a:srgbClr val="542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70064" y="1929384"/>
            <a:ext cx="54864" cy="256032"/>
          </a:xfrm>
          <a:prstGeom prst="rect">
            <a:avLst/>
          </a:prstGeom>
          <a:solidFill>
            <a:srgbClr val="FF2EFF"/>
          </a:solidFill>
          <a:ln w="2540">
            <a:solidFill>
              <a:srgbClr val="FF2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16368" y="192938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FF2EFF"/>
                </a:solidFill>
                <a:latin typeface="Consolas"/>
              </a:defRPr>
            </a:pPr>
            <a:r>
              <a:t>MOVEMENT RULE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43216" y="2276856"/>
            <a:ext cx="3758183" cy="2395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F2E8FF"/>
                </a:solidFill>
                <a:latin typeface="Consolas"/>
              </a:defRPr>
            </a:pPr>
            <a:r>
              <a:t>const left = keys['ArrowLeft'] || keys['KeyA'];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F2E8FF"/>
                </a:solidFill>
                <a:latin typeface="Consolas"/>
              </a:defRPr>
            </a:pPr>
            <a:r>
              <a:t>const right = keys['ArrowRight'] || keys['KeyD'];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F2E8FF"/>
                </a:solidFill>
                <a:latin typeface="Consolas"/>
              </a:defRPr>
            </a:pPr>
            <a:r>
              <a:t>const dx = left ? -1 : right ? 1 : 0;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F2E8FF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F2E8FF"/>
                </a:solidFill>
                <a:latin typeface="Consolas"/>
              </a:defRPr>
            </a:pPr>
            <a:r>
              <a:t>player.x += dx * player.speed;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F2E8FF"/>
                </a:solidFill>
                <a:latin typeface="Consolas"/>
              </a:defRPr>
            </a:pPr>
            <a:r>
              <a:t>player.x = Math.max(0, Math.min(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F2E8FF"/>
                </a:solidFill>
                <a:latin typeface="Consolas"/>
              </a:defRPr>
            </a:pPr>
            <a:r>
              <a:t>  CONFIG.CANVAS_W - player.w, player.x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60" b="0" i="0">
                <a:solidFill>
                  <a:srgbClr val="F2E8FF"/>
                </a:solidFill>
                <a:latin typeface="Consolas"/>
              </a:defRPr>
            </a:pPr>
            <a:r>
              <a:t>));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388352" y="4096512"/>
            <a:ext cx="3822192" cy="0"/>
          </a:xfrm>
          <a:prstGeom prst="line">
            <a:avLst/>
          </a:prstGeom>
          <a:ln w="8890">
            <a:solidFill>
              <a:srgbClr val="3C1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424927" y="42153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9" b="0" i="0">
                <a:solidFill>
                  <a:srgbClr val="AD9CC8"/>
                </a:solidFill>
                <a:latin typeface="Aptos"/>
              </a:defRPr>
            </a:pPr>
            <a:r>
              <a:t>Clamp the position so the ship stays on screen.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07 / MECHANIC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8F3FF"/>
                </a:solidFill>
                <a:latin typeface="Aptos"/>
              </a:defRPr>
            </a:pPr>
            <a:r>
              <a:t>Shoot — and clean up after the 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D9C5F2"/>
                </a:solidFill>
                <a:latin typeface="Aptos"/>
              </a:defRPr>
            </a:pPr>
            <a:r>
              <a:t>A bullet is a small object in an array: create it, move it, detect hits, then remove 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" y="1444752"/>
            <a:ext cx="10991088" cy="0"/>
          </a:xfrm>
          <a:prstGeom prst="line">
            <a:avLst/>
          </a:prstGeom>
          <a:ln w="12700">
            <a:solidFill>
              <a:srgbClr val="602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" y="1444752"/>
            <a:ext cx="630936" cy="0"/>
          </a:xfrm>
          <a:prstGeom prst="line">
            <a:avLst/>
          </a:prstGeom>
          <a:ln w="27940">
            <a:solidFill>
              <a:srgbClr val="00E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10160">
            <a:solidFill>
              <a:srgbClr val="3D18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83680"/>
            <a:ext cx="6400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9E89B9"/>
                </a:solidFill>
                <a:latin typeface="Consolas"/>
              </a:defRPr>
            </a:pPr>
            <a:r>
              <a:t>TECHNOPIXEL • DAY 1 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37392" y="656539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783080"/>
            <a:ext cx="5257800" cy="2304288"/>
          </a:xfrm>
          <a:prstGeom prst="roundRect">
            <a:avLst>
              <a:gd name="adj" fmla="val 12000"/>
            </a:avLst>
          </a:prstGeom>
          <a:solidFill>
            <a:srgbClr val="0E0419"/>
          </a:solidFill>
          <a:ln w="13970">
            <a:solidFill>
              <a:srgbClr val="542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6112" y="1947672"/>
            <a:ext cx="54864" cy="256032"/>
          </a:xfrm>
          <a:prstGeom prst="rect">
            <a:avLst/>
          </a:prstGeom>
          <a:solidFill>
            <a:srgbClr val="FF2EFF"/>
          </a:solidFill>
          <a:ln w="2540">
            <a:solidFill>
              <a:srgbClr val="FF2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5" y="1947672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FF2EFF"/>
                </a:solidFill>
                <a:latin typeface="Consolas"/>
              </a:defRPr>
            </a:pPr>
            <a:r>
              <a:t>CREATE A BULLET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2295144"/>
            <a:ext cx="4855464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70" b="0" i="0">
                <a:solidFill>
                  <a:srgbClr val="F2E8FF"/>
                </a:solidFill>
                <a:latin typeface="Consolas"/>
              </a:defRPr>
            </a:pPr>
            <a:r>
              <a:t>const bx = player.x + player.w / 2 - bulletW / 2;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70" b="0" i="0">
                <a:solidFill>
                  <a:srgbClr val="F2E8FF"/>
                </a:solidFill>
                <a:latin typeface="Consolas"/>
              </a:defRPr>
            </a:pPr>
            <a:r>
              <a:t>const by = player.y - bulletH;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70" b="0" i="0">
                <a:solidFill>
                  <a:srgbClr val="F2E8FF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70" b="0" i="0">
                <a:solidFill>
                  <a:srgbClr val="F2E8FF"/>
                </a:solidFill>
                <a:latin typeface="Consolas"/>
              </a:defRPr>
            </a:pPr>
            <a:r>
              <a:t>bullets.push({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70" b="0" i="0">
                <a:solidFill>
                  <a:srgbClr val="F2E8FF"/>
                </a:solidFill>
                <a:latin typeface="Consolas"/>
              </a:defRPr>
            </a:pPr>
            <a:r>
              <a:t>  x: bx, y: by,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70" b="0" i="0">
                <a:solidFill>
                  <a:srgbClr val="F2E8FF"/>
                </a:solidFill>
                <a:latin typeface="Consolas"/>
              </a:defRPr>
            </a:pPr>
            <a:r>
              <a:t>  w: bulletW, h: bulletH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70" b="0" i="0">
                <a:solidFill>
                  <a:srgbClr val="F2E8FF"/>
                </a:solidFill>
                <a:latin typeface="Consolas"/>
              </a:defRPr>
            </a:pPr>
            <a:r>
              <a:t>});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3602735"/>
            <a:ext cx="4928616" cy="0"/>
          </a:xfrm>
          <a:prstGeom prst="line">
            <a:avLst/>
          </a:prstGeom>
          <a:ln w="8890">
            <a:solidFill>
              <a:srgbClr val="3C1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50976" y="3694176"/>
            <a:ext cx="4855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AD9CC8"/>
                </a:solidFill>
                <a:latin typeface="Aptos"/>
              </a:defRPr>
            </a:pPr>
            <a:r>
              <a:t>The x-coordinate centers the bullet on the ship.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783080"/>
            <a:ext cx="5166360" cy="2304288"/>
          </a:xfrm>
          <a:prstGeom prst="roundRect">
            <a:avLst>
              <a:gd name="adj" fmla="val 12000"/>
            </a:avLst>
          </a:prstGeom>
          <a:solidFill>
            <a:srgbClr val="0E0419"/>
          </a:solidFill>
          <a:ln w="13970">
            <a:solidFill>
              <a:srgbClr val="542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64224" y="1947672"/>
            <a:ext cx="54864" cy="256032"/>
          </a:xfrm>
          <a:prstGeom prst="rect">
            <a:avLst/>
          </a:prstGeom>
          <a:solidFill>
            <a:srgbClr val="00EAF5"/>
          </a:solidFill>
          <a:ln w="2540">
            <a:solidFill>
              <a:srgbClr val="00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1947672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00EAF5"/>
                </a:solidFill>
                <a:latin typeface="Consolas"/>
              </a:defRPr>
            </a:pPr>
            <a:r>
              <a:t>MOVE + REMOVE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2295144"/>
            <a:ext cx="4764024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40" b="0" i="0">
                <a:solidFill>
                  <a:srgbClr val="F2E8FF"/>
                </a:solidFill>
                <a:latin typeface="Consolas"/>
              </a:defRPr>
            </a:pPr>
            <a:r>
              <a:t>for (let i = bullets.length - 1; i &gt;= 0; i--)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40" b="0" i="0">
                <a:solidFill>
                  <a:srgbClr val="F2E8FF"/>
                </a:solidFill>
                <a:latin typeface="Consolas"/>
              </a:defRPr>
            </a:pPr>
            <a:r>
              <a:t>  bullets[i].y -= CONFIG.BULLET_SPEED;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40" b="0" i="0">
                <a:solidFill>
                  <a:srgbClr val="F2E8FF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40" b="0" i="0">
                <a:solidFill>
                  <a:srgbClr val="F2E8FF"/>
                </a:solidFill>
                <a:latin typeface="Consolas"/>
              </a:defRPr>
            </a:pPr>
            <a:r>
              <a:t>  if (bullets[i].y + bullets[i].h &lt; 0)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40" b="0" i="0">
                <a:solidFill>
                  <a:srgbClr val="F2E8FF"/>
                </a:solidFill>
                <a:latin typeface="Consolas"/>
              </a:defRPr>
            </a:pPr>
            <a:r>
              <a:t>    bullets.splice(i, 1);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40" b="0" i="0">
                <a:solidFill>
                  <a:srgbClr val="F2E8FF"/>
                </a:solidFill>
                <a:latin typeface="Consolas"/>
              </a:defRPr>
            </a:pPr>
            <a:r>
              <a:t> 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40" b="0" i="0">
                <a:solidFill>
                  <a:srgbClr val="F2E8FF"/>
                </a:solidFill>
                <a:latin typeface="Consolas"/>
              </a:defRPr>
            </a:pPr>
            <a:r>
              <a:t>}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382512" y="3602735"/>
            <a:ext cx="4837176" cy="0"/>
          </a:xfrm>
          <a:prstGeom prst="line">
            <a:avLst/>
          </a:prstGeom>
          <a:ln w="8890">
            <a:solidFill>
              <a:srgbClr val="3C1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19088" y="3694176"/>
            <a:ext cx="4764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AD9CC8"/>
                </a:solidFill>
                <a:latin typeface="Aptos"/>
              </a:defRPr>
            </a:pPr>
            <a:r>
              <a:t>Loop backward when removing items from an array.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681728"/>
            <a:ext cx="2331720" cy="841248"/>
          </a:xfrm>
          <a:prstGeom prst="roundRect">
            <a:avLst>
              <a:gd name="adj" fmla="val 12000"/>
            </a:avLst>
          </a:prstGeom>
          <a:solidFill>
            <a:srgbClr val="1B072B"/>
          </a:solidFill>
          <a:ln w="12700">
            <a:solidFill>
              <a:srgbClr val="6D2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5" y="4846320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CREATE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111496"/>
            <a:ext cx="21396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F8F3FF"/>
                </a:solidFill>
                <a:latin typeface="Aptos"/>
              </a:defRPr>
            </a:pPr>
            <a:r>
              <a:t>push into bullets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18687" y="4956048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D9C5F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66744" y="4681728"/>
            <a:ext cx="2331720" cy="841248"/>
          </a:xfrm>
          <a:prstGeom prst="roundRect">
            <a:avLst>
              <a:gd name="adj" fmla="val 12000"/>
            </a:avLst>
          </a:prstGeom>
          <a:solidFill>
            <a:srgbClr val="1B072B"/>
          </a:solidFill>
          <a:ln w="12700">
            <a:solidFill>
              <a:srgbClr val="296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4759" y="4846320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0EAF5"/>
                </a:solidFill>
                <a:latin typeface="Consolas"/>
              </a:defRPr>
            </a:pPr>
            <a:r>
              <a:t>UPDATE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58183" y="5111496"/>
            <a:ext cx="21396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F8F3FF"/>
                </a:solidFill>
                <a:latin typeface="Aptos"/>
              </a:defRPr>
            </a:pPr>
            <a:r>
              <a:t>move upward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16752" y="4956048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D9C5F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64808" y="4681728"/>
            <a:ext cx="2331720" cy="841248"/>
          </a:xfrm>
          <a:prstGeom prst="roundRect">
            <a:avLst>
              <a:gd name="adj" fmla="val 12000"/>
            </a:avLst>
          </a:prstGeom>
          <a:solidFill>
            <a:srgbClr val="1B072B"/>
          </a:solidFill>
          <a:ln w="12700">
            <a:solidFill>
              <a:srgbClr val="6D2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92824" y="4846320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COLLIDE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6248" y="5111496"/>
            <a:ext cx="21396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F8F3FF"/>
                </a:solidFill>
                <a:latin typeface="Aptos"/>
              </a:defRPr>
            </a:pPr>
            <a:r>
              <a:t>check enemies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14816" y="4956048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D9C5F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62872" y="4681728"/>
            <a:ext cx="2331720" cy="841248"/>
          </a:xfrm>
          <a:prstGeom prst="roundRect">
            <a:avLst>
              <a:gd name="adj" fmla="val 12000"/>
            </a:avLst>
          </a:prstGeom>
          <a:solidFill>
            <a:srgbClr val="1B072B"/>
          </a:solidFill>
          <a:ln w="12700">
            <a:solidFill>
              <a:srgbClr val="296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90888" y="4846320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0EAF5"/>
                </a:solidFill>
                <a:latin typeface="Consolas"/>
              </a:defRPr>
            </a:pPr>
            <a:r>
              <a:t>CLEAN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54311" y="5111496"/>
            <a:ext cx="21396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F8F3FF"/>
                </a:solidFill>
                <a:latin typeface="Aptos"/>
              </a:defRPr>
            </a:pPr>
            <a:r>
              <a:t>remove off-screen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806440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D9C5F2"/>
                </a:solidFill>
                <a:latin typeface="Aptos"/>
              </a:defRPr>
            </a:pPr>
            <a:r>
              <a:t>A firing cooldown limits how quickly bullets can be created, even while Space is held.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08 / MECHANIC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8F3FF"/>
                </a:solidFill>
                <a:latin typeface="Aptos"/>
              </a:defRPr>
            </a:pPr>
            <a:r>
              <a:t>Build the invasion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D9C5F2"/>
                </a:solidFill>
                <a:latin typeface="Aptos"/>
              </a:defRPr>
            </a:pPr>
            <a:r>
              <a:t>A nested loop creates rows and columns. The formation reverses direction when it reaches a wall.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" y="1444752"/>
            <a:ext cx="10991088" cy="0"/>
          </a:xfrm>
          <a:prstGeom prst="line">
            <a:avLst/>
          </a:prstGeom>
          <a:ln w="12700">
            <a:solidFill>
              <a:srgbClr val="602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" y="1444752"/>
            <a:ext cx="630936" cy="0"/>
          </a:xfrm>
          <a:prstGeom prst="line">
            <a:avLst/>
          </a:prstGeom>
          <a:ln w="27940">
            <a:solidFill>
              <a:srgbClr val="00E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10160">
            <a:solidFill>
              <a:srgbClr val="3D18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83680"/>
            <a:ext cx="6400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9E89B9"/>
                </a:solidFill>
                <a:latin typeface="Consolas"/>
              </a:defRPr>
            </a:pPr>
            <a:r>
              <a:t>TECHNOPIXEL • DAY 1 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37392" y="656539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1783080"/>
            <a:ext cx="5532120" cy="2688336"/>
          </a:xfrm>
          <a:prstGeom prst="roundRect">
            <a:avLst>
              <a:gd name="adj" fmla="val 12000"/>
            </a:avLst>
          </a:prstGeom>
          <a:solidFill>
            <a:srgbClr val="10051D"/>
          </a:solidFill>
          <a:ln w="15240">
            <a:solidFill>
              <a:srgbClr val="702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(20261028-12210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1847088"/>
            <a:ext cx="5404104" cy="25603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537960" y="1783080"/>
            <a:ext cx="4828032" cy="2688336"/>
          </a:xfrm>
          <a:prstGeom prst="roundRect">
            <a:avLst>
              <a:gd name="adj" fmla="val 12000"/>
            </a:avLst>
          </a:prstGeom>
          <a:solidFill>
            <a:srgbClr val="0E0419"/>
          </a:solidFill>
          <a:ln w="13970">
            <a:solidFill>
              <a:srgbClr val="542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84264" y="1947672"/>
            <a:ext cx="54864" cy="256032"/>
          </a:xfrm>
          <a:prstGeom prst="rect">
            <a:avLst/>
          </a:prstGeom>
          <a:solidFill>
            <a:srgbClr val="00EAF5"/>
          </a:solidFill>
          <a:ln w="2540">
            <a:solidFill>
              <a:srgbClr val="00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0568" y="1947672"/>
            <a:ext cx="4325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00EAF5"/>
                </a:solidFill>
                <a:latin typeface="Consolas"/>
              </a:defRPr>
            </a:pPr>
            <a:r>
              <a:t>FORMATION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7416" y="2295144"/>
            <a:ext cx="4425696" cy="1975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F2E8FF"/>
                </a:solidFill>
                <a:latin typeface="Consolas"/>
              </a:defRPr>
            </a:pPr>
            <a:r>
              <a:t>for (let row = 0; row &lt; rows; row++)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F2E8FF"/>
                </a:solidFill>
                <a:latin typeface="Consolas"/>
              </a:defRPr>
            </a:pPr>
            <a:r>
              <a:t>  for (let col = 0; col &lt; cols; col++)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F2E8FF"/>
                </a:solidFill>
                <a:latin typeface="Consolas"/>
              </a:defRPr>
            </a:pPr>
            <a:r>
              <a:t>    enemies.push({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F2E8FF"/>
                </a:solidFill>
                <a:latin typeface="Consolas"/>
              </a:defRPr>
            </a:pPr>
            <a:r>
              <a:t>      x: startX + col * (W + gap),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F2E8FF"/>
                </a:solidFill>
                <a:latin typeface="Consolas"/>
              </a:defRPr>
            </a:pPr>
            <a:r>
              <a:t>      y: startY + row * (H + gap),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F2E8FF"/>
                </a:solidFill>
                <a:latin typeface="Consolas"/>
              </a:defRPr>
            </a:pPr>
            <a:r>
              <a:t>      type: typeIndex,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F2E8FF"/>
                </a:solidFill>
                <a:latin typeface="Consolas"/>
              </a:defRPr>
            </a:pPr>
            <a:r>
              <a:t>      alive: true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F2E8FF"/>
                </a:solidFill>
                <a:latin typeface="Consolas"/>
              </a:defRPr>
            </a:pPr>
            <a:r>
              <a:t>    });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F2E8FF"/>
                </a:solidFill>
                <a:latin typeface="Consolas"/>
              </a:defRPr>
            </a:pPr>
            <a:r>
              <a:t>  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F2E8FF"/>
                </a:solidFill>
                <a:latin typeface="Consolas"/>
              </a:defRPr>
            </a:pPr>
            <a:r>
              <a:t>}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02552" y="3986783"/>
            <a:ext cx="4498848" cy="0"/>
          </a:xfrm>
          <a:prstGeom prst="line">
            <a:avLst/>
          </a:prstGeom>
          <a:ln w="8890">
            <a:solidFill>
              <a:srgbClr val="3C1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39128" y="4078224"/>
            <a:ext cx="4425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AD9CC8"/>
                </a:solidFill>
                <a:latin typeface="Aptos"/>
              </a:defRPr>
            </a:pPr>
            <a:r>
              <a:t>Rows create vertical layers; columns fill each row.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773168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ENEMY POINT VALUES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8920" y="4681728"/>
            <a:ext cx="1810512" cy="621792"/>
          </a:xfrm>
          <a:prstGeom prst="roundRect">
            <a:avLst>
              <a:gd name="adj" fmla="val 12000"/>
            </a:avLst>
          </a:prstGeom>
          <a:solidFill>
            <a:srgbClr val="1B072B"/>
          </a:solidFill>
          <a:ln w="12700">
            <a:solidFill>
              <a:srgbClr val="4E2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16936" y="4910328"/>
            <a:ext cx="109728" cy="109728"/>
          </a:xfrm>
          <a:prstGeom prst="ellipse">
            <a:avLst/>
          </a:prstGeom>
          <a:solidFill>
            <a:srgbClr val="73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99815" y="4800600"/>
            <a:ext cx="7132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F8F3FF"/>
                </a:solidFill>
                <a:latin typeface="Consolas"/>
              </a:defRPr>
            </a:pPr>
            <a:r>
              <a:t>BLUE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800600"/>
            <a:ext cx="7132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73CFFF"/>
                </a:solidFill>
                <a:latin typeface="Consolas"/>
              </a:defRPr>
            </a:pPr>
            <a:r>
              <a:t>10 PTS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46320" y="4681728"/>
            <a:ext cx="1810512" cy="621792"/>
          </a:xfrm>
          <a:prstGeom prst="roundRect">
            <a:avLst>
              <a:gd name="adj" fmla="val 12000"/>
            </a:avLst>
          </a:prstGeom>
          <a:solidFill>
            <a:srgbClr val="1B072B"/>
          </a:solidFill>
          <a:ln w="12700">
            <a:solidFill>
              <a:srgbClr val="4E2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974336" y="4910328"/>
            <a:ext cx="109728" cy="109728"/>
          </a:xfrm>
          <a:prstGeom prst="ellipse">
            <a:avLst/>
          </a:prstGeom>
          <a:solidFill>
            <a:srgbClr val="FF7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57216" y="4800600"/>
            <a:ext cx="7132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F8F3FF"/>
                </a:solidFill>
                <a:latin typeface="Consolas"/>
              </a:defRPr>
            </a:pPr>
            <a:r>
              <a:t>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4800600"/>
            <a:ext cx="7132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FF777E"/>
                </a:solidFill>
                <a:latin typeface="Consolas"/>
              </a:defRPr>
            </a:pPr>
            <a:r>
              <a:t>20 PTS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03720" y="4681728"/>
            <a:ext cx="1810512" cy="621792"/>
          </a:xfrm>
          <a:prstGeom prst="roundRect">
            <a:avLst>
              <a:gd name="adj" fmla="val 12000"/>
            </a:avLst>
          </a:prstGeom>
          <a:solidFill>
            <a:srgbClr val="1B072B"/>
          </a:solidFill>
          <a:ln w="12700">
            <a:solidFill>
              <a:srgbClr val="4E2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31736" y="4910328"/>
            <a:ext cx="109728" cy="109728"/>
          </a:xfrm>
          <a:prstGeom prst="ellipse">
            <a:avLst/>
          </a:prstGeom>
          <a:solidFill>
            <a:srgbClr val="77F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14616" y="4800600"/>
            <a:ext cx="7132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F8F3FF"/>
                </a:solidFill>
                <a:latin typeface="Consolas"/>
              </a:defRPr>
            </a:pPr>
            <a:r>
              <a:t>GREEN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800600"/>
            <a:ext cx="7132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77F29A"/>
                </a:solidFill>
                <a:latin typeface="Consolas"/>
              </a:defRPr>
            </a:pPr>
            <a:r>
              <a:t>50 PTS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0" y="4681728"/>
            <a:ext cx="1810512" cy="621792"/>
          </a:xfrm>
          <a:prstGeom prst="roundRect">
            <a:avLst>
              <a:gd name="adj" fmla="val 12000"/>
            </a:avLst>
          </a:prstGeom>
          <a:solidFill>
            <a:srgbClr val="1B072B"/>
          </a:solidFill>
          <a:ln w="12700">
            <a:solidFill>
              <a:srgbClr val="4E2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089136" y="4910328"/>
            <a:ext cx="109728" cy="109728"/>
          </a:xfrm>
          <a:prstGeom prst="ellipse">
            <a:avLst/>
          </a:prstGeom>
          <a:solidFill>
            <a:srgbClr val="FF7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72016" y="4800600"/>
            <a:ext cx="7132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F8F3FF"/>
                </a:solidFill>
                <a:latin typeface="Consolas"/>
              </a:defRPr>
            </a:pPr>
            <a:r>
              <a:t>PINK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4800600"/>
            <a:ext cx="7132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FF73E7"/>
                </a:solidFill>
                <a:latin typeface="Consolas"/>
              </a:defRPr>
            </a:pPr>
            <a:r>
              <a:t>100 PTS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5559552"/>
            <a:ext cx="10424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D9C5F2"/>
                </a:solidFill>
                <a:latin typeface="Aptos"/>
              </a:defRPr>
            </a:pPr>
            <a:r>
              <a:t>Side invaders use their own sprites and sweep across the screen for bonus points.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09 / MECHANIC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8F3FF"/>
                </a:solidFill>
                <a:latin typeface="Aptos"/>
              </a:defRPr>
            </a:pPr>
            <a:r>
              <a:t>Collision detection: did the bullet hit?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D9C5F2"/>
                </a:solidFill>
                <a:latin typeface="Aptos"/>
              </a:defRPr>
            </a:pPr>
            <a:r>
              <a:t>AABB checks whether two axis-aligned rectangles overlap.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" y="1444752"/>
            <a:ext cx="10991088" cy="0"/>
          </a:xfrm>
          <a:prstGeom prst="line">
            <a:avLst/>
          </a:prstGeom>
          <a:ln w="12700">
            <a:solidFill>
              <a:srgbClr val="602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" y="1444752"/>
            <a:ext cx="630936" cy="0"/>
          </a:xfrm>
          <a:prstGeom prst="line">
            <a:avLst/>
          </a:prstGeom>
          <a:ln w="27940">
            <a:solidFill>
              <a:srgbClr val="00E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10160">
            <a:solidFill>
              <a:srgbClr val="3D18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83680"/>
            <a:ext cx="6400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9E89B9"/>
                </a:solidFill>
                <a:latin typeface="Consolas"/>
              </a:defRPr>
            </a:pPr>
            <a:r>
              <a:t>TECHNOPIXEL • DAY 1 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37392" y="656539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810512"/>
            <a:ext cx="4572000" cy="3429000"/>
          </a:xfrm>
          <a:prstGeom prst="roundRect">
            <a:avLst>
              <a:gd name="adj" fmla="val 12000"/>
            </a:avLst>
          </a:prstGeom>
          <a:solidFill>
            <a:srgbClr val="160625"/>
          </a:solidFill>
          <a:ln w="12700">
            <a:solidFill>
              <a:srgbClr val="4B1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084831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00EAF5"/>
                </a:solidFill>
                <a:latin typeface="Consolas"/>
              </a:defRPr>
            </a:pPr>
            <a:r>
              <a:t>RECTANGLE 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2624328"/>
            <a:ext cx="1874519" cy="1298448"/>
          </a:xfrm>
          <a:prstGeom prst="rect">
            <a:avLst/>
          </a:prstGeom>
          <a:solidFill>
            <a:srgbClr val="10516A"/>
          </a:solidFill>
          <a:ln w="19050">
            <a:solidFill>
              <a:srgbClr val="00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3172968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8F3FF"/>
                </a:solidFill>
                <a:latin typeface="Consolas"/>
              </a:defRPr>
            </a:pPr>
            <a:r>
              <a:t>PLAYER BULLET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986784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RECTANGLE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42032" y="3419856"/>
            <a:ext cx="1965960" cy="1298448"/>
          </a:xfrm>
          <a:prstGeom prst="rect">
            <a:avLst/>
          </a:prstGeom>
          <a:solidFill>
            <a:srgbClr val="6A174F"/>
          </a:solidFill>
          <a:ln w="19050">
            <a:solidFill>
              <a:srgbClr val="FF2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393192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8F3FF"/>
                </a:solidFill>
                <a:latin typeface="Consolas"/>
              </a:defRPr>
            </a:pPr>
            <a:r>
              <a:t>ENEMY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4846320"/>
            <a:ext cx="30358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77F29A"/>
                </a:solidFill>
                <a:latin typeface="Consolas"/>
              </a:defRPr>
            </a:pPr>
            <a:r>
              <a:t>OVERLAP = HIT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0" y="1810512"/>
            <a:ext cx="5733288" cy="2514600"/>
          </a:xfrm>
          <a:prstGeom prst="roundRect">
            <a:avLst>
              <a:gd name="adj" fmla="val 12000"/>
            </a:avLst>
          </a:prstGeom>
          <a:solidFill>
            <a:srgbClr val="0E0419"/>
          </a:solidFill>
          <a:ln w="13970">
            <a:solidFill>
              <a:srgbClr val="542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9864" y="1975104"/>
            <a:ext cx="54864" cy="256032"/>
          </a:xfrm>
          <a:prstGeom prst="rect">
            <a:avLst/>
          </a:prstGeom>
          <a:solidFill>
            <a:srgbClr val="FF2EFF"/>
          </a:solidFill>
          <a:ln w="2540">
            <a:solidFill>
              <a:srgbClr val="FF2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6168" y="1975104"/>
            <a:ext cx="5230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FF2EFF"/>
                </a:solidFill>
                <a:latin typeface="Consolas"/>
              </a:defRPr>
            </a:pPr>
            <a:r>
              <a:t>THE OVERLAP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3016" y="2322576"/>
            <a:ext cx="5330951" cy="1801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2E8FF"/>
                </a:solidFill>
                <a:latin typeface="Consolas"/>
              </a:defRPr>
            </a:pPr>
            <a:r>
              <a:t>return ax &lt; bx + bw &amp;&amp;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2E8FF"/>
                </a:solidFill>
                <a:latin typeface="Consolas"/>
              </a:defRPr>
            </a:pPr>
            <a:r>
              <a:t>       ax + aw &gt; bx &amp;&amp;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2E8FF"/>
                </a:solidFill>
                <a:latin typeface="Consolas"/>
              </a:defRPr>
            </a:pPr>
            <a:r>
              <a:t>       ay &lt; by + bh &amp;&amp;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2E8FF"/>
                </a:solidFill>
                <a:latin typeface="Consolas"/>
              </a:defRPr>
            </a:pPr>
            <a:r>
              <a:t>       ay + ah &gt; by;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88152" y="3840480"/>
            <a:ext cx="5404104" cy="0"/>
          </a:xfrm>
          <a:prstGeom prst="line">
            <a:avLst/>
          </a:prstGeom>
          <a:ln w="8890">
            <a:solidFill>
              <a:srgbClr val="3C1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824728" y="3931920"/>
            <a:ext cx="53309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AD9CC8"/>
                </a:solidFill>
                <a:latin typeface="Aptos"/>
              </a:defRPr>
            </a:pPr>
            <a:r>
              <a:t>All four comparisons must be true.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4553712"/>
            <a:ext cx="5733288" cy="713232"/>
          </a:xfrm>
          <a:prstGeom prst="roundRect">
            <a:avLst>
              <a:gd name="adj" fmla="val 12000"/>
            </a:avLst>
          </a:prstGeom>
          <a:solidFill>
            <a:srgbClr val="1C082D"/>
          </a:solidFill>
          <a:ln w="12700">
            <a:solidFill>
              <a:srgbClr val="572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70448" y="4754880"/>
            <a:ext cx="52303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8F3FF"/>
                </a:solidFill>
                <a:latin typeface="Aptos"/>
              </a:defRPr>
            </a:pPr>
            <a:r>
              <a:t>When hit: remove the bullet → defeat the enemy → add points.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448" y="5394960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70" b="0" i="0">
                <a:solidFill>
                  <a:srgbClr val="D9C5F2"/>
                </a:solidFill>
                <a:latin typeface="Aptos"/>
              </a:defRPr>
            </a:pPr>
            <a:r>
              <a:t>Player damage also checks invulnerability and shield state before removing a life.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10 / REWARDS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8F3FF"/>
                </a:solidFill>
                <a:latin typeface="Aptos"/>
              </a:defRPr>
            </a:pPr>
            <a:r>
              <a:t>Score, lives &amp; power-ups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D9C5F2"/>
                </a:solidFill>
                <a:latin typeface="Aptos"/>
              </a:defRPr>
            </a:pPr>
            <a:r>
              <a:t>A clear feedback loop makes every hit meaningful: detect → update state → show the result.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" y="1444752"/>
            <a:ext cx="10991088" cy="0"/>
          </a:xfrm>
          <a:prstGeom prst="line">
            <a:avLst/>
          </a:prstGeom>
          <a:ln w="12700">
            <a:solidFill>
              <a:srgbClr val="602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" y="1444752"/>
            <a:ext cx="630936" cy="0"/>
          </a:xfrm>
          <a:prstGeom prst="line">
            <a:avLst/>
          </a:prstGeom>
          <a:ln w="27940">
            <a:solidFill>
              <a:srgbClr val="00E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10160">
            <a:solidFill>
              <a:srgbClr val="3D18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83680"/>
            <a:ext cx="6400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9E89B9"/>
                </a:solidFill>
                <a:latin typeface="Consolas"/>
              </a:defRPr>
            </a:pPr>
            <a:r>
              <a:t>TECHNOPIXEL • DAY 1 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37392" y="656539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783080"/>
            <a:ext cx="3794760" cy="3611880"/>
          </a:xfrm>
          <a:prstGeom prst="roundRect">
            <a:avLst>
              <a:gd name="adj" fmla="val 12000"/>
            </a:avLst>
          </a:prstGeom>
          <a:solidFill>
            <a:srgbClr val="170726"/>
          </a:solidFill>
          <a:ln w="12700">
            <a:solidFill>
              <a:srgbClr val="4D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1168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0EAF5"/>
                </a:solidFill>
                <a:latin typeface="Consolas"/>
              </a:defRPr>
            </a:pPr>
            <a:r>
              <a:t>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4231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8F3FF"/>
                </a:solidFill>
                <a:latin typeface="Consolas"/>
              </a:defRPr>
            </a:pPr>
            <a:r>
              <a:t>10  /  20  /  50  /  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2608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D9C5F2"/>
                </a:solidFill>
                <a:latin typeface="Aptos"/>
              </a:defRPr>
            </a:pPr>
            <a:r>
              <a:t>Each enemy type awards a different point value.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5840" y="3602736"/>
            <a:ext cx="3218688" cy="0"/>
          </a:xfrm>
          <a:prstGeom prst="line">
            <a:avLst/>
          </a:prstGeom>
          <a:ln w="10160">
            <a:solidFill>
              <a:srgbClr val="4C1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05840" y="3822191"/>
            <a:ext cx="2971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FF2EFF"/>
                </a:solidFill>
                <a:latin typeface="Consolas"/>
              </a:defRPr>
            </a:pPr>
            <a:r>
              <a:t>LIVES &amp; HIT 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160520"/>
            <a:ext cx="3127248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F8F3FF"/>
                </a:solidFill>
                <a:latin typeface="Aptos"/>
              </a:defRPr>
            </a:pPr>
            <a:r>
              <a:t>Three starting lives. A brief invulnerability window prevents one collision from draining several lives at once.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1938528"/>
            <a:ext cx="1938528" cy="1225296"/>
          </a:xfrm>
          <a:prstGeom prst="roundRect">
            <a:avLst>
              <a:gd name="adj" fmla="val 12000"/>
            </a:avLst>
          </a:prstGeom>
          <a:solidFill>
            <a:srgbClr val="1B072B"/>
          </a:solidFill>
          <a:ln w="12700">
            <a:solidFill>
              <a:srgbClr val="4D1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92624" y="2093976"/>
            <a:ext cx="4206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FF777E"/>
                </a:solidFill>
                <a:latin typeface="Aptos"/>
              </a:defRPr>
            </a:pPr>
            <a:r>
              <a:t>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8112" y="2121408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8F3FF"/>
                </a:solidFill>
                <a:latin typeface="Consolas"/>
              </a:defRPr>
            </a:pPr>
            <a:r>
              <a:t>HEART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8112" y="244144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D9C5F2"/>
                </a:solidFill>
                <a:latin typeface="Aptos"/>
              </a:defRPr>
            </a:pPr>
            <a:r>
              <a:t>Restore one life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86016" y="1938528"/>
            <a:ext cx="1938528" cy="1225296"/>
          </a:xfrm>
          <a:prstGeom prst="roundRect">
            <a:avLst>
              <a:gd name="adj" fmla="val 12000"/>
            </a:avLst>
          </a:prstGeom>
          <a:solidFill>
            <a:srgbClr val="1B072B"/>
          </a:solidFill>
          <a:ln w="12700">
            <a:solidFill>
              <a:srgbClr val="4D1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2093976"/>
            <a:ext cx="4206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00EAF5"/>
                </a:solidFill>
                <a:latin typeface="Aptos"/>
              </a:defRPr>
            </a:pPr>
            <a:r>
              <a:t>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121408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8F3FF"/>
                </a:solidFill>
                <a:latin typeface="Consolas"/>
              </a:defRPr>
            </a:pPr>
            <a:r>
              <a:t>SHIELD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7808" y="244144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D9C5F2"/>
                </a:solidFill>
                <a:latin typeface="Aptos"/>
              </a:defRPr>
            </a:pPr>
            <a:r>
              <a:t>Absorb a hit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25712" y="1938528"/>
            <a:ext cx="1938528" cy="1225296"/>
          </a:xfrm>
          <a:prstGeom prst="roundRect">
            <a:avLst>
              <a:gd name="adj" fmla="val 12000"/>
            </a:avLst>
          </a:prstGeom>
          <a:solidFill>
            <a:srgbClr val="1B072B"/>
          </a:solidFill>
          <a:ln w="12700">
            <a:solidFill>
              <a:srgbClr val="4D1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72016" y="2093976"/>
            <a:ext cx="4206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FF2EFF"/>
                </a:solidFill>
                <a:latin typeface="Aptos"/>
              </a:defRPr>
            </a:pPr>
            <a:r>
              <a:t>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2121408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8F3FF"/>
                </a:solidFill>
                <a:latin typeface="Consolas"/>
              </a:defRPr>
            </a:pPr>
            <a:r>
              <a:t>MULTISHOT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7504" y="244144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D9C5F2"/>
                </a:solidFill>
                <a:latin typeface="Aptos"/>
              </a:defRPr>
            </a:pPr>
            <a:r>
              <a:t>Three-shot spread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20" y="3383280"/>
            <a:ext cx="1938528" cy="1225296"/>
          </a:xfrm>
          <a:prstGeom prst="roundRect">
            <a:avLst>
              <a:gd name="adj" fmla="val 12000"/>
            </a:avLst>
          </a:prstGeom>
          <a:solidFill>
            <a:srgbClr val="1B072B"/>
          </a:solidFill>
          <a:ln w="12700">
            <a:solidFill>
              <a:srgbClr val="4D1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92624" y="3538728"/>
            <a:ext cx="4206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FFBD68"/>
                </a:solidFill>
                <a:latin typeface="Aptos"/>
              </a:defRPr>
            </a:pPr>
            <a:r>
              <a:t>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8112" y="3566160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8F3FF"/>
                </a:solidFill>
                <a:latin typeface="Consolas"/>
              </a:defRPr>
            </a:pPr>
            <a:r>
              <a:t>BIG BULLET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68112" y="388620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D9C5F2"/>
                </a:solidFill>
                <a:latin typeface="Aptos"/>
              </a:defRPr>
            </a:pPr>
            <a:r>
              <a:t>Larger shots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86016" y="3383280"/>
            <a:ext cx="1938528" cy="1225296"/>
          </a:xfrm>
          <a:prstGeom prst="roundRect">
            <a:avLst>
              <a:gd name="adj" fmla="val 12000"/>
            </a:avLst>
          </a:prstGeom>
          <a:solidFill>
            <a:srgbClr val="1B072B"/>
          </a:solidFill>
          <a:ln w="12700">
            <a:solidFill>
              <a:srgbClr val="4D1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0" y="3538728"/>
            <a:ext cx="4206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8D36C9"/>
                </a:solidFill>
                <a:latin typeface="Aptos"/>
              </a:defRPr>
            </a:pPr>
            <a:r>
              <a:t>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7808" y="3566160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8F3FF"/>
                </a:solidFill>
                <a:latin typeface="Consolas"/>
              </a:defRPr>
            </a:pPr>
            <a:r>
              <a:t>RAPID SHOT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07808" y="388620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D9C5F2"/>
                </a:solidFill>
                <a:latin typeface="Aptos"/>
              </a:defRPr>
            </a:pPr>
            <a:r>
              <a:t>Faster firing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46320" y="4992624"/>
            <a:ext cx="6400800" cy="502920"/>
          </a:xfrm>
          <a:prstGeom prst="roundRect">
            <a:avLst>
              <a:gd name="adj" fmla="val 12000"/>
            </a:avLst>
          </a:prstGeom>
          <a:solidFill>
            <a:srgbClr val="250A39"/>
          </a:solidFill>
          <a:ln w="12700">
            <a:solidFill>
              <a:srgbClr val="6D2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0" y="513892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9" b="0" i="0">
                <a:solidFill>
                  <a:srgbClr val="F8F3FF"/>
                </a:solidFill>
                <a:latin typeface="Aptos"/>
              </a:defRPr>
            </a:pPr>
            <a:r>
              <a:t>Collect a drop by flying into it. Timed upgrades expire; hearts respect the life cap.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11 / CONTROL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8F3FF"/>
                </a:solidFill>
                <a:latin typeface="Aptos"/>
              </a:defRPr>
            </a:pPr>
            <a:r>
              <a:t>Game states keep the experience organized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D9C5F2"/>
                </a:solidFill>
                <a:latin typeface="Aptos"/>
              </a:defRPr>
            </a:pPr>
            <a:r>
              <a:t>One STATE value decides which interactions and overlays should be active.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" y="1444752"/>
            <a:ext cx="10991088" cy="0"/>
          </a:xfrm>
          <a:prstGeom prst="line">
            <a:avLst/>
          </a:prstGeom>
          <a:ln w="12700">
            <a:solidFill>
              <a:srgbClr val="602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" y="1444752"/>
            <a:ext cx="630936" cy="0"/>
          </a:xfrm>
          <a:prstGeom prst="line">
            <a:avLst/>
          </a:prstGeom>
          <a:ln w="27940">
            <a:solidFill>
              <a:srgbClr val="00E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10160">
            <a:solidFill>
              <a:srgbClr val="3D18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83680"/>
            <a:ext cx="6400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9E89B9"/>
                </a:solidFill>
                <a:latin typeface="Consolas"/>
              </a:defRPr>
            </a:pPr>
            <a:r>
              <a:t>TECHNOPIXEL • DAY 1 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37392" y="656539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20240"/>
            <a:ext cx="2057400" cy="713232"/>
          </a:xfrm>
          <a:prstGeom prst="roundRect">
            <a:avLst>
              <a:gd name="adj" fmla="val 12000"/>
            </a:avLst>
          </a:prstGeom>
          <a:solidFill>
            <a:srgbClr val="1B072B"/>
          </a:solidFill>
          <a:ln w="13970">
            <a:solidFill>
              <a:srgbClr val="FF2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139696"/>
            <a:ext cx="1911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2EFF"/>
                </a:solidFill>
                <a:latin typeface="Consolas"/>
              </a:defRPr>
            </a:pPr>
            <a:r>
              <a:t>LOADING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920240"/>
            <a:ext cx="2057400" cy="713232"/>
          </a:xfrm>
          <a:prstGeom prst="roundRect">
            <a:avLst>
              <a:gd name="adj" fmla="val 12000"/>
            </a:avLst>
          </a:prstGeom>
          <a:solidFill>
            <a:srgbClr val="1B072B"/>
          </a:solidFill>
          <a:ln w="13970">
            <a:solidFill>
              <a:srgbClr val="00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0712" y="2139696"/>
            <a:ext cx="1911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0EAF5"/>
                </a:solidFill>
                <a:latin typeface="Consolas"/>
              </a:defRPr>
            </a:pPr>
            <a:r>
              <a:t>MENU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1920240"/>
            <a:ext cx="2057400" cy="713232"/>
          </a:xfrm>
          <a:prstGeom prst="roundRect">
            <a:avLst>
              <a:gd name="adj" fmla="val 12000"/>
            </a:avLst>
          </a:prstGeom>
          <a:solidFill>
            <a:srgbClr val="1B072B"/>
          </a:solidFill>
          <a:ln w="13970">
            <a:solidFill>
              <a:srgbClr val="77F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71032" y="2139696"/>
            <a:ext cx="19110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77F29A"/>
                </a:solidFill>
                <a:latin typeface="Consolas"/>
              </a:defRPr>
            </a:pPr>
            <a:r>
              <a:t>PLAYING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1920240"/>
            <a:ext cx="2423160" cy="713232"/>
          </a:xfrm>
          <a:prstGeom prst="roundRect">
            <a:avLst>
              <a:gd name="adj" fmla="val 12000"/>
            </a:avLst>
          </a:prstGeom>
          <a:solidFill>
            <a:srgbClr val="1B072B"/>
          </a:solidFill>
          <a:ln w="13970">
            <a:solidFill>
              <a:srgbClr val="FFB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1352" y="2139696"/>
            <a:ext cx="2276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FBD68"/>
                </a:solidFill>
                <a:latin typeface="Consolas"/>
              </a:defRPr>
            </a:pPr>
            <a:r>
              <a:t>PAUSED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2072" y="2103120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F8F3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2392" y="2103120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F8F3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82712" y="2103120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F8F3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74519" y="3319272"/>
            <a:ext cx="3246120" cy="1051560"/>
          </a:xfrm>
          <a:prstGeom prst="roundRect">
            <a:avLst>
              <a:gd name="adj" fmla="val 12000"/>
            </a:avLst>
          </a:prstGeom>
          <a:solidFill>
            <a:srgbClr val="1B072B"/>
          </a:solidFill>
          <a:ln w="12700">
            <a:solidFill>
              <a:srgbClr val="8D3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84831" y="3529584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C68BFF"/>
                </a:solidFill>
                <a:latin typeface="Consolas"/>
              </a:defRPr>
            </a:pPr>
            <a:r>
              <a:t>WAVE CLEARED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84831" y="3858768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D9C5F2"/>
                </a:solidFill>
                <a:latin typeface="Aptos"/>
              </a:defRPr>
            </a:pPr>
            <a:r>
              <a:t>Brief transition before the next formation.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19088" y="3319272"/>
            <a:ext cx="2057400" cy="1051560"/>
          </a:xfrm>
          <a:prstGeom prst="roundRect">
            <a:avLst>
              <a:gd name="adj" fmla="val 12000"/>
            </a:avLst>
          </a:prstGeom>
          <a:solidFill>
            <a:srgbClr val="1B072B"/>
          </a:solidFill>
          <a:ln w="12700">
            <a:solidFill>
              <a:srgbClr val="77F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54787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77F29A"/>
                </a:solidFill>
                <a:latin typeface="Consolas"/>
              </a:defRPr>
            </a:pPr>
            <a:r>
              <a:t>VICTORY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3858768"/>
            <a:ext cx="17556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D9C5F2"/>
                </a:solidFill>
                <a:latin typeface="Aptos"/>
              </a:defRPr>
            </a:pPr>
            <a:r>
              <a:t>Wave 5 cleared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96528" y="3319272"/>
            <a:ext cx="2084831" cy="1051560"/>
          </a:xfrm>
          <a:prstGeom prst="roundRect">
            <a:avLst>
              <a:gd name="adj" fmla="val 12000"/>
            </a:avLst>
          </a:prstGeom>
          <a:solidFill>
            <a:srgbClr val="1B072B"/>
          </a:solidFill>
          <a:ln w="12700">
            <a:solidFill>
              <a:srgbClr val="FF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42832" y="3547872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777E"/>
                </a:solidFill>
                <a:latin typeface="Consolas"/>
              </a:defRPr>
            </a:pPr>
            <a:r>
              <a:t>GAME OVER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42832" y="3858768"/>
            <a:ext cx="17830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D9C5F2"/>
                </a:solidFill>
                <a:latin typeface="Aptos"/>
              </a:defRPr>
            </a:pPr>
            <a:r>
              <a:t>Lives reach zero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010912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8F3FF"/>
                </a:solidFill>
                <a:latin typeface="Aptos"/>
              </a:defRPr>
            </a:pPr>
            <a:r>
              <a:t>Analogy: STATE is a traffic light. The game should only be in one mode at a time.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468112"/>
            <a:ext cx="10104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D9C5F2"/>
                </a:solidFill>
                <a:latin typeface="Aptos"/>
              </a:defRPr>
            </a:pPr>
            <a:r>
              <a:t>Paused means the simulation stops updating; the current frame can remain visible behind the overlay.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12 / FEEL &amp; POLISH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8F3FF"/>
                </a:solidFill>
                <a:latin typeface="Aptos"/>
              </a:defRPr>
            </a:pPr>
            <a:r>
              <a:t>The loop: update, then draw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D9C5F2"/>
                </a:solidFill>
                <a:latin typeface="Aptos"/>
              </a:defRPr>
            </a:pPr>
            <a:r>
              <a:t>The game repeats a small cycle before the browser paints the next frame.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" y="1444752"/>
            <a:ext cx="10991088" cy="0"/>
          </a:xfrm>
          <a:prstGeom prst="line">
            <a:avLst/>
          </a:prstGeom>
          <a:ln w="12700">
            <a:solidFill>
              <a:srgbClr val="602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" y="1444752"/>
            <a:ext cx="630936" cy="0"/>
          </a:xfrm>
          <a:prstGeom prst="line">
            <a:avLst/>
          </a:prstGeom>
          <a:ln w="27940">
            <a:solidFill>
              <a:srgbClr val="00E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10160">
            <a:solidFill>
              <a:srgbClr val="3D18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83680"/>
            <a:ext cx="6400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9E89B9"/>
                </a:solidFill>
                <a:latin typeface="Consolas"/>
              </a:defRPr>
            </a:pPr>
            <a:r>
              <a:t>TECHNOPIXEL • DAY 1 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37392" y="656539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810512"/>
            <a:ext cx="5120640" cy="2432304"/>
          </a:xfrm>
          <a:prstGeom prst="roundRect">
            <a:avLst>
              <a:gd name="adj" fmla="val 12000"/>
            </a:avLst>
          </a:prstGeom>
          <a:solidFill>
            <a:srgbClr val="0E0419"/>
          </a:solidFill>
          <a:ln w="13970">
            <a:solidFill>
              <a:srgbClr val="542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3544" y="1975104"/>
            <a:ext cx="54864" cy="256032"/>
          </a:xfrm>
          <a:prstGeom prst="rect">
            <a:avLst/>
          </a:prstGeom>
          <a:solidFill>
            <a:srgbClr val="00EAF5"/>
          </a:solidFill>
          <a:ln w="2540">
            <a:solidFill>
              <a:srgbClr val="00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1975104"/>
            <a:ext cx="4617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00EAF5"/>
                </a:solidFill>
                <a:latin typeface="Consolas"/>
              </a:defRPr>
            </a:pPr>
            <a:r>
              <a:t>ONE ANIMATION 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5" y="2322576"/>
            <a:ext cx="4718303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2E8FF"/>
                </a:solidFill>
                <a:latin typeface="Consolas"/>
              </a:defRPr>
            </a:pPr>
            <a:r>
              <a:t>function gameLoop(timestamp)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2E8FF"/>
                </a:solidFill>
                <a:latin typeface="Consolas"/>
              </a:defRPr>
            </a:pPr>
            <a:r>
              <a:t>  update(timestamp);  // move + check rules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2E8FF"/>
                </a:solidFill>
                <a:latin typeface="Consolas"/>
              </a:defRPr>
            </a:pPr>
            <a:r>
              <a:t>  render();           // draw the current scene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2E8FF"/>
                </a:solidFill>
                <a:latin typeface="Consolas"/>
              </a:defRPr>
            </a:pPr>
            <a:r>
              <a:t>  requestAnimationFrame(gameLoop);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2E8FF"/>
                </a:solidFill>
                <a:latin typeface="Consolas"/>
              </a:defRPr>
            </a:pPr>
            <a:r>
              <a:t>}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41832" y="3758184"/>
            <a:ext cx="4791456" cy="0"/>
          </a:xfrm>
          <a:prstGeom prst="line">
            <a:avLst/>
          </a:prstGeom>
          <a:ln w="8890">
            <a:solidFill>
              <a:srgbClr val="3C1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78408" y="3849624"/>
            <a:ext cx="47183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AD9CC8"/>
                </a:solidFill>
                <a:latin typeface="Aptos"/>
              </a:defRPr>
            </a:pPr>
            <a:r>
              <a:t>requestAnimationFrame schedules the next frame.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1810512"/>
            <a:ext cx="5102352" cy="2432304"/>
          </a:xfrm>
          <a:prstGeom prst="roundRect">
            <a:avLst>
              <a:gd name="adj" fmla="val 12000"/>
            </a:avLst>
          </a:prstGeom>
          <a:solidFill>
            <a:srgbClr val="160625"/>
          </a:solidFill>
          <a:ln w="12700">
            <a:solidFill>
              <a:srgbClr val="4E1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47688" y="2578608"/>
            <a:ext cx="1234440" cy="658368"/>
          </a:xfrm>
          <a:prstGeom prst="roundRect">
            <a:avLst>
              <a:gd name="adj" fmla="val 12000"/>
            </a:avLst>
          </a:prstGeom>
          <a:solidFill>
            <a:srgbClr val="230A38"/>
          </a:solidFill>
          <a:ln w="12700">
            <a:solidFill>
              <a:srgbClr val="00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2551" y="2816352"/>
            <a:ext cx="11247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19" b="1" i="0">
                <a:solidFill>
                  <a:srgbClr val="00EAF5"/>
                </a:solidFill>
                <a:latin typeface="Consolas"/>
              </a:defRPr>
            </a:pPr>
            <a:r>
              <a:t>INPUT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7" y="2578608"/>
            <a:ext cx="1234440" cy="658368"/>
          </a:xfrm>
          <a:prstGeom prst="roundRect">
            <a:avLst>
              <a:gd name="adj" fmla="val 12000"/>
            </a:avLst>
          </a:prstGeom>
          <a:solidFill>
            <a:srgbClr val="230A38"/>
          </a:solidFill>
          <a:ln w="12700">
            <a:solidFill>
              <a:srgbClr val="FF2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5592" y="2816352"/>
            <a:ext cx="11247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19" b="1" i="0">
                <a:solidFill>
                  <a:srgbClr val="FF2EFF"/>
                </a:solidFill>
                <a:latin typeface="Consolas"/>
              </a:defRPr>
            </a:pPr>
            <a:r>
              <a:t>UPDATE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19488" y="2578608"/>
            <a:ext cx="1234440" cy="658368"/>
          </a:xfrm>
          <a:prstGeom prst="roundRect">
            <a:avLst>
              <a:gd name="adj" fmla="val 12000"/>
            </a:avLst>
          </a:prstGeom>
          <a:solidFill>
            <a:srgbClr val="230A38"/>
          </a:solidFill>
          <a:ln w="12700">
            <a:solidFill>
              <a:srgbClr val="FF7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74352" y="2816352"/>
            <a:ext cx="11247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19" b="1" i="0">
                <a:solidFill>
                  <a:srgbClr val="FF73E7"/>
                </a:solidFill>
                <a:latin typeface="Consolas"/>
              </a:defRPr>
            </a:pPr>
            <a:r>
              <a:t>RENDER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6408" y="2779776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8F3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779776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8F3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3447288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D9C5F2"/>
                </a:solidFill>
                <a:latin typeface="Aptos"/>
              </a:defRPr>
            </a:pPr>
            <a:r>
              <a:t>Repeat while the game runs.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" y="4617720"/>
            <a:ext cx="10552176" cy="987552"/>
          </a:xfrm>
          <a:prstGeom prst="roundRect">
            <a:avLst>
              <a:gd name="adj" fmla="val 12000"/>
            </a:avLst>
          </a:prstGeom>
          <a:solidFill>
            <a:srgbClr val="1A072A"/>
          </a:solidFill>
          <a:ln w="12700">
            <a:solidFill>
              <a:srgbClr val="572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828032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19" b="1" i="0">
                <a:solidFill>
                  <a:srgbClr val="FF2EFF"/>
                </a:solidFill>
                <a:latin typeface="Consolas"/>
              </a:defRPr>
            </a:pPr>
            <a:r>
              <a:t>SOUND &amp; MUSIC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61488" y="4809744"/>
            <a:ext cx="1389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8F3FF"/>
                </a:solidFill>
                <a:latin typeface="Consolas"/>
              </a:defRPr>
            </a:pPr>
            <a:r>
              <a:t>music.mp3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1488" y="5129784"/>
            <a:ext cx="17190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D9C5F2"/>
                </a:solidFill>
                <a:latin typeface="Aptos"/>
              </a:defRPr>
            </a:pPr>
            <a:r>
              <a:t>Looping soundtrack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809744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00EAF5"/>
                </a:solidFill>
                <a:latin typeface="Consolas"/>
              </a:defRPr>
            </a:pPr>
            <a:r>
              <a:t>Web Audio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5129784"/>
            <a:ext cx="18653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D9C5F2"/>
                </a:solidFill>
                <a:latin typeface="Aptos"/>
              </a:defRPr>
            </a:pPr>
            <a:r>
              <a:t>Lightweight sound effects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80974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73E7"/>
                </a:solidFill>
                <a:latin typeface="Consolas"/>
              </a:defRPr>
            </a:pPr>
            <a:r>
              <a:t>User gesture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5129784"/>
            <a:ext cx="2331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D9C5F2"/>
                </a:solidFill>
                <a:latin typeface="Aptos"/>
              </a:defRPr>
            </a:pPr>
            <a:r>
              <a:t>Start or unmute to play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13 / BUILD-ALONG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8F3FF"/>
                </a:solidFill>
                <a:latin typeface="Aptos"/>
              </a:defRPr>
            </a:pPr>
            <a:r>
              <a:t>Your 150-minute coding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D9C5F2"/>
                </a:solidFill>
                <a:latin typeface="Aptos"/>
              </a:defRPr>
            </a:pPr>
            <a:r>
              <a:t>Each checkpoint ends with a visible result — run the game often, not only at the end.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" y="1444752"/>
            <a:ext cx="10991088" cy="0"/>
          </a:xfrm>
          <a:prstGeom prst="line">
            <a:avLst/>
          </a:prstGeom>
          <a:ln w="12700">
            <a:solidFill>
              <a:srgbClr val="602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" y="1444752"/>
            <a:ext cx="630936" cy="0"/>
          </a:xfrm>
          <a:prstGeom prst="line">
            <a:avLst/>
          </a:prstGeom>
          <a:ln w="27940">
            <a:solidFill>
              <a:srgbClr val="00E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10160">
            <a:solidFill>
              <a:srgbClr val="3D18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83680"/>
            <a:ext cx="6400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9E89B9"/>
                </a:solidFill>
                <a:latin typeface="Consolas"/>
              </a:defRPr>
            </a:pPr>
            <a:r>
              <a:t>TECHNOPIXEL • DAY 1 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37392" y="656539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" y="1856231"/>
            <a:ext cx="2651760" cy="1225296"/>
          </a:xfrm>
          <a:prstGeom prst="roundRect">
            <a:avLst>
              <a:gd name="adj" fmla="val 12000"/>
            </a:avLst>
          </a:prstGeom>
          <a:solidFill>
            <a:srgbClr val="170726"/>
          </a:solidFill>
          <a:ln w="12700">
            <a:solidFill>
              <a:srgbClr val="4E1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0392" y="2002536"/>
            <a:ext cx="640080" cy="292608"/>
          </a:xfrm>
          <a:prstGeom prst="roundRect">
            <a:avLst>
              <a:gd name="adj" fmla="val 12000"/>
            </a:avLst>
          </a:prstGeom>
          <a:solidFill>
            <a:srgbClr val="250A39"/>
          </a:solidFill>
          <a:ln w="10160">
            <a:solidFill>
              <a:srgbClr val="602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2039112"/>
            <a:ext cx="49377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00EAF5"/>
                </a:solidFill>
                <a:latin typeface="Consolas"/>
              </a:defRPr>
            </a:pPr>
            <a:r>
              <a:t>10m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350008"/>
            <a:ext cx="23134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8F3FF"/>
                </a:solidFill>
                <a:latin typeface="Aptos"/>
              </a:defRPr>
            </a:pPr>
            <a:r>
              <a:t>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2660903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D9C5F2"/>
                </a:solidFill>
                <a:latin typeface="Aptos"/>
              </a:defRPr>
            </a:pPr>
            <a:r>
              <a:t>Open project + run page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84448" y="1856231"/>
            <a:ext cx="2651760" cy="1225296"/>
          </a:xfrm>
          <a:prstGeom prst="roundRect">
            <a:avLst>
              <a:gd name="adj" fmla="val 12000"/>
            </a:avLst>
          </a:prstGeom>
          <a:solidFill>
            <a:srgbClr val="170726"/>
          </a:solidFill>
          <a:ln w="12700">
            <a:solidFill>
              <a:srgbClr val="4E1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39896" y="2002536"/>
            <a:ext cx="640080" cy="292608"/>
          </a:xfrm>
          <a:prstGeom prst="roundRect">
            <a:avLst>
              <a:gd name="adj" fmla="val 12000"/>
            </a:avLst>
          </a:prstGeom>
          <a:solidFill>
            <a:srgbClr val="250A39"/>
          </a:solidFill>
          <a:ln w="10160">
            <a:solidFill>
              <a:srgbClr val="602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13048" y="2039112"/>
            <a:ext cx="49377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FF2EFF"/>
                </a:solidFill>
                <a:latin typeface="Consolas"/>
              </a:defRPr>
            </a:pPr>
            <a:r>
              <a:t>15m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2350008"/>
            <a:ext cx="23134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8F3FF"/>
                </a:solidFill>
                <a:latin typeface="Aptos"/>
              </a:defRPr>
            </a:pPr>
            <a:r>
              <a:t>Assets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2660903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D9C5F2"/>
                </a:solidFill>
                <a:latin typeface="Aptos"/>
              </a:defRPr>
            </a:pPr>
            <a:r>
              <a:t>Load and draw sprites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3952" y="1856231"/>
            <a:ext cx="2651760" cy="1225296"/>
          </a:xfrm>
          <a:prstGeom prst="roundRect">
            <a:avLst>
              <a:gd name="adj" fmla="val 12000"/>
            </a:avLst>
          </a:prstGeom>
          <a:solidFill>
            <a:srgbClr val="170726"/>
          </a:solidFill>
          <a:ln w="12700">
            <a:solidFill>
              <a:srgbClr val="4E1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629400" y="2002536"/>
            <a:ext cx="640080" cy="292608"/>
          </a:xfrm>
          <a:prstGeom prst="roundRect">
            <a:avLst>
              <a:gd name="adj" fmla="val 12000"/>
            </a:avLst>
          </a:prstGeom>
          <a:solidFill>
            <a:srgbClr val="250A39"/>
          </a:solidFill>
          <a:ln w="10160">
            <a:solidFill>
              <a:srgbClr val="602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2552" y="2039112"/>
            <a:ext cx="49377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8D36C9"/>
                </a:solidFill>
                <a:latin typeface="Consolas"/>
              </a:defRPr>
            </a:pPr>
            <a:r>
              <a:t>20m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8544" y="2350008"/>
            <a:ext cx="23134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8F3FF"/>
                </a:solidFill>
                <a:latin typeface="Aptos"/>
              </a:defRPr>
            </a:pPr>
            <a:r>
              <a:t>Movement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8544" y="2660903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D9C5F2"/>
                </a:solidFill>
                <a:latin typeface="Aptos"/>
              </a:defRPr>
            </a:pPr>
            <a:r>
              <a:t>Keyboard input + boundaries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63456" y="1856231"/>
            <a:ext cx="2651760" cy="1225296"/>
          </a:xfrm>
          <a:prstGeom prst="roundRect">
            <a:avLst>
              <a:gd name="adj" fmla="val 12000"/>
            </a:avLst>
          </a:prstGeom>
          <a:solidFill>
            <a:srgbClr val="170726"/>
          </a:solidFill>
          <a:ln w="12700">
            <a:solidFill>
              <a:srgbClr val="4E1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18904" y="2002536"/>
            <a:ext cx="640080" cy="292608"/>
          </a:xfrm>
          <a:prstGeom prst="roundRect">
            <a:avLst>
              <a:gd name="adj" fmla="val 12000"/>
            </a:avLst>
          </a:prstGeom>
          <a:solidFill>
            <a:srgbClr val="250A39"/>
          </a:solidFill>
          <a:ln w="10160">
            <a:solidFill>
              <a:srgbClr val="602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92056" y="2039112"/>
            <a:ext cx="49377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FF73E7"/>
                </a:solidFill>
                <a:latin typeface="Consolas"/>
              </a:defRPr>
            </a:pPr>
            <a:r>
              <a:t>25m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8048" y="2350008"/>
            <a:ext cx="23134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8F3FF"/>
                </a:solidFill>
                <a:latin typeface="Aptos"/>
              </a:defRPr>
            </a:pPr>
            <a:r>
              <a:t>Bullets + enemies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8048" y="2660903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D9C5F2"/>
                </a:solidFill>
                <a:latin typeface="Aptos"/>
              </a:defRPr>
            </a:pPr>
            <a:r>
              <a:t>Shoot and move formation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944" y="3337560"/>
            <a:ext cx="2651760" cy="1225296"/>
          </a:xfrm>
          <a:prstGeom prst="roundRect">
            <a:avLst>
              <a:gd name="adj" fmla="val 12000"/>
            </a:avLst>
          </a:prstGeom>
          <a:solidFill>
            <a:srgbClr val="170726"/>
          </a:solidFill>
          <a:ln w="12700">
            <a:solidFill>
              <a:srgbClr val="4E1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50392" y="3483864"/>
            <a:ext cx="640080" cy="292608"/>
          </a:xfrm>
          <a:prstGeom prst="roundRect">
            <a:avLst>
              <a:gd name="adj" fmla="val 12000"/>
            </a:avLst>
          </a:prstGeom>
          <a:solidFill>
            <a:srgbClr val="250A39"/>
          </a:solidFill>
          <a:ln w="10160">
            <a:solidFill>
              <a:srgbClr val="602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" y="3520440"/>
            <a:ext cx="49377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00EAF5"/>
                </a:solidFill>
                <a:latin typeface="Consolas"/>
              </a:defRPr>
            </a:pPr>
            <a:r>
              <a:t>20m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3831335"/>
            <a:ext cx="23134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8F3FF"/>
                </a:solidFill>
                <a:latin typeface="Aptos"/>
              </a:defRPr>
            </a:pPr>
            <a:r>
              <a:t>Collisions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4142232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D9C5F2"/>
                </a:solidFill>
                <a:latin typeface="Aptos"/>
              </a:defRPr>
            </a:pPr>
            <a:r>
              <a:t>Score + lives + hit rules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84448" y="3337560"/>
            <a:ext cx="2651760" cy="1225296"/>
          </a:xfrm>
          <a:prstGeom prst="roundRect">
            <a:avLst>
              <a:gd name="adj" fmla="val 12000"/>
            </a:avLst>
          </a:prstGeom>
          <a:solidFill>
            <a:srgbClr val="170726"/>
          </a:solidFill>
          <a:ln w="12700">
            <a:solidFill>
              <a:srgbClr val="4E1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739896" y="3483864"/>
            <a:ext cx="640080" cy="292608"/>
          </a:xfrm>
          <a:prstGeom prst="roundRect">
            <a:avLst>
              <a:gd name="adj" fmla="val 12000"/>
            </a:avLst>
          </a:prstGeom>
          <a:solidFill>
            <a:srgbClr val="250A39"/>
          </a:solidFill>
          <a:ln w="10160">
            <a:solidFill>
              <a:srgbClr val="602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13048" y="3520440"/>
            <a:ext cx="49377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FF2EFF"/>
                </a:solidFill>
                <a:latin typeface="Consolas"/>
              </a:defRPr>
            </a:pPr>
            <a:r>
              <a:t>20m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39" y="3831335"/>
            <a:ext cx="23134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8F3FF"/>
                </a:solidFill>
                <a:latin typeface="Aptos"/>
              </a:defRPr>
            </a:pPr>
            <a:r>
              <a:t>Power-ups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39" y="4142232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D9C5F2"/>
                </a:solidFill>
                <a:latin typeface="Aptos"/>
              </a:defRPr>
            </a:pPr>
            <a:r>
              <a:t>Drops + effects + timers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73952" y="3337560"/>
            <a:ext cx="2651760" cy="1225296"/>
          </a:xfrm>
          <a:prstGeom prst="roundRect">
            <a:avLst>
              <a:gd name="adj" fmla="val 12000"/>
            </a:avLst>
          </a:prstGeom>
          <a:solidFill>
            <a:srgbClr val="170726"/>
          </a:solidFill>
          <a:ln w="12700">
            <a:solidFill>
              <a:srgbClr val="4E1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629400" y="3483864"/>
            <a:ext cx="640080" cy="292608"/>
          </a:xfrm>
          <a:prstGeom prst="roundRect">
            <a:avLst>
              <a:gd name="adj" fmla="val 12000"/>
            </a:avLst>
          </a:prstGeom>
          <a:solidFill>
            <a:srgbClr val="250A39"/>
          </a:solidFill>
          <a:ln w="10160">
            <a:solidFill>
              <a:srgbClr val="602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02552" y="3520440"/>
            <a:ext cx="49377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8D36C9"/>
                </a:solidFill>
                <a:latin typeface="Consolas"/>
              </a:defRPr>
            </a:pPr>
            <a:r>
              <a:t>20m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38544" y="3831335"/>
            <a:ext cx="23134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8F3FF"/>
                </a:solidFill>
                <a:latin typeface="Aptos"/>
              </a:defRPr>
            </a:pPr>
            <a:r>
              <a:t>States + audio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38544" y="4142232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D9C5F2"/>
                </a:solidFill>
                <a:latin typeface="Aptos"/>
              </a:defRPr>
            </a:pPr>
            <a:r>
              <a:t>Waves, pause, win/lose, sound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63456" y="3337560"/>
            <a:ext cx="2651760" cy="1225296"/>
          </a:xfrm>
          <a:prstGeom prst="roundRect">
            <a:avLst>
              <a:gd name="adj" fmla="val 12000"/>
            </a:avLst>
          </a:prstGeom>
          <a:solidFill>
            <a:srgbClr val="170726"/>
          </a:solidFill>
          <a:ln w="12700">
            <a:solidFill>
              <a:srgbClr val="4E1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518904" y="3483864"/>
            <a:ext cx="640080" cy="292608"/>
          </a:xfrm>
          <a:prstGeom prst="roundRect">
            <a:avLst>
              <a:gd name="adj" fmla="val 12000"/>
            </a:avLst>
          </a:prstGeom>
          <a:solidFill>
            <a:srgbClr val="250A39"/>
          </a:solidFill>
          <a:ln w="10160">
            <a:solidFill>
              <a:srgbClr val="602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92056" y="3520440"/>
            <a:ext cx="49377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FF73E7"/>
                </a:solidFill>
                <a:latin typeface="Consolas"/>
              </a:defRPr>
            </a:pPr>
            <a:r>
              <a:t>20m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28048" y="3831335"/>
            <a:ext cx="23134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8F3FF"/>
                </a:solidFill>
                <a:latin typeface="Aptos"/>
              </a:defRPr>
            </a:pPr>
            <a:r>
              <a:t>Test + challenge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28048" y="4142232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D9C5F2"/>
                </a:solidFill>
                <a:latin typeface="Aptos"/>
              </a:defRPr>
            </a:pPr>
            <a:r>
              <a:t>Debug and customize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9808" y="5102352"/>
            <a:ext cx="10744200" cy="585216"/>
          </a:xfrm>
          <a:prstGeom prst="roundRect">
            <a:avLst>
              <a:gd name="adj" fmla="val 12000"/>
            </a:avLst>
          </a:prstGeom>
          <a:solidFill>
            <a:srgbClr val="220A37"/>
          </a:solidFill>
          <a:ln w="12700">
            <a:solidFill>
              <a:srgbClr val="6D26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" y="528523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0EAF5"/>
                </a:solidFill>
                <a:latin typeface="Consolas"/>
              </a:defRPr>
            </a:pPr>
            <a:r>
              <a:t>TOTAL 150 MINUTES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91840" y="5257800"/>
            <a:ext cx="7726679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F8F3FF"/>
                </a:solidFill>
                <a:latin typeface="Aptos"/>
              </a:defRPr>
            </a:pPr>
            <a:r>
              <a:t>Keep advanced polish optional. The core mechanics come first.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5907024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AD9CC8"/>
                </a:solidFill>
                <a:latin typeface="Aptos"/>
              </a:defRPr>
            </a:pPr>
            <a:r>
              <a:t>Facilitator note: the event plan has separate setup, opening, keynote, demo, and wrap-up blocks around this coding session.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_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017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14 / DEBUGGING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56692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8F3FF"/>
                </a:solidFill>
                <a:latin typeface="Aptos"/>
              </a:defRPr>
            </a:pPr>
            <a:r>
              <a:t>When something breaks, debug in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D9C5F2"/>
                </a:solidFill>
                <a:latin typeface="Aptos"/>
              </a:defRPr>
            </a:pPr>
            <a:r>
              <a:t>A bug is information. Test one small thing at a time.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" y="1444752"/>
            <a:ext cx="10991088" cy="0"/>
          </a:xfrm>
          <a:prstGeom prst="line">
            <a:avLst/>
          </a:prstGeom>
          <a:ln w="12700">
            <a:solidFill>
              <a:srgbClr val="602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" y="1444752"/>
            <a:ext cx="630936" cy="0"/>
          </a:xfrm>
          <a:prstGeom prst="line">
            <a:avLst/>
          </a:prstGeom>
          <a:ln w="27940">
            <a:solidFill>
              <a:srgbClr val="00E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10160">
            <a:solidFill>
              <a:srgbClr val="3D18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83680"/>
            <a:ext cx="6400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9E89B9"/>
                </a:solidFill>
                <a:latin typeface="Consolas"/>
              </a:defRPr>
            </a:pPr>
            <a:r>
              <a:t>TECHNOPIXEL • DAY 1 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37392" y="656539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783080"/>
            <a:ext cx="3493008" cy="1170432"/>
          </a:xfrm>
          <a:prstGeom prst="roundRect">
            <a:avLst>
              <a:gd name="adj" fmla="val 12000"/>
            </a:avLst>
          </a:prstGeom>
          <a:solidFill>
            <a:srgbClr val="170726"/>
          </a:solidFill>
          <a:ln w="12700">
            <a:solidFill>
              <a:srgbClr val="4B1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" y="1947672"/>
            <a:ext cx="50292" cy="841248"/>
          </a:xfrm>
          <a:prstGeom prst="rect">
            <a:avLst/>
          </a:prstGeom>
          <a:solidFill>
            <a:srgbClr val="00EAF5"/>
          </a:solidFill>
          <a:ln w="3810">
            <a:solidFill>
              <a:srgbClr val="00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1993392"/>
            <a:ext cx="2926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8F3FF"/>
                </a:solidFill>
                <a:latin typeface="Aptos"/>
              </a:defRPr>
            </a:pPr>
            <a:r>
              <a:t>BLANK / MISSING 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432304"/>
            <a:ext cx="2907791" cy="429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30" b="0" i="0">
                <a:solidFill>
                  <a:srgbClr val="D9C5F2"/>
                </a:solidFill>
                <a:latin typeface="Aptos"/>
              </a:defRPr>
            </a:pPr>
            <a:r>
              <a:t>Check image paths, exact spelling, and filename case. Open DevTools → Console.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62272" y="1783080"/>
            <a:ext cx="3493008" cy="1170432"/>
          </a:xfrm>
          <a:prstGeom prst="roundRect">
            <a:avLst>
              <a:gd name="adj" fmla="val 12000"/>
            </a:avLst>
          </a:prstGeom>
          <a:solidFill>
            <a:srgbClr val="170726"/>
          </a:solidFill>
          <a:ln w="12700">
            <a:solidFill>
              <a:srgbClr val="4B1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26864" y="1947672"/>
            <a:ext cx="50292" cy="841248"/>
          </a:xfrm>
          <a:prstGeom prst="rect">
            <a:avLst/>
          </a:prstGeom>
          <a:solidFill>
            <a:srgbClr val="FF2EFF"/>
          </a:solidFill>
          <a:ln w="3810">
            <a:solidFill>
              <a:srgbClr val="FF2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8032" y="1993392"/>
            <a:ext cx="2926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8F3FF"/>
                </a:solidFill>
                <a:latin typeface="Aptos"/>
              </a:defRPr>
            </a:pPr>
            <a:r>
              <a:t>SHIP DOES NOT MOVE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2" y="2432304"/>
            <a:ext cx="2907791" cy="429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30" b="0" i="0">
                <a:solidFill>
                  <a:srgbClr val="D9C5F2"/>
                </a:solidFill>
                <a:latin typeface="Aptos"/>
              </a:defRPr>
            </a:pPr>
            <a:r>
              <a:t>Confirm keydown/keyup handlers, expected key codes, and STATE === "playing".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11311" y="1783080"/>
            <a:ext cx="3493008" cy="1170432"/>
          </a:xfrm>
          <a:prstGeom prst="roundRect">
            <a:avLst>
              <a:gd name="adj" fmla="val 12000"/>
            </a:avLst>
          </a:prstGeom>
          <a:solidFill>
            <a:srgbClr val="170726"/>
          </a:solidFill>
          <a:ln w="12700">
            <a:solidFill>
              <a:srgbClr val="4B1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75903" y="1947672"/>
            <a:ext cx="50292" cy="841248"/>
          </a:xfrm>
          <a:prstGeom prst="rect">
            <a:avLst/>
          </a:prstGeom>
          <a:solidFill>
            <a:srgbClr val="8D36C9"/>
          </a:solidFill>
          <a:ln w="3810">
            <a:solidFill>
              <a:srgbClr val="8D3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1993392"/>
            <a:ext cx="2926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8F3FF"/>
                </a:solidFill>
                <a:latin typeface="Aptos"/>
              </a:defRPr>
            </a:pPr>
            <a:r>
              <a:t>BULLETS NEVER STOP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7072" y="2432304"/>
            <a:ext cx="2907791" cy="429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30" b="0" i="0">
                <a:solidFill>
                  <a:srgbClr val="D9C5F2"/>
                </a:solidFill>
                <a:latin typeface="Aptos"/>
              </a:defRPr>
            </a:pPr>
            <a:r>
              <a:t>Remove bullets after they leave the canvas; check the firing cooldown.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3227832"/>
            <a:ext cx="3493008" cy="1170432"/>
          </a:xfrm>
          <a:prstGeom prst="roundRect">
            <a:avLst>
              <a:gd name="adj" fmla="val 12000"/>
            </a:avLst>
          </a:prstGeom>
          <a:solidFill>
            <a:srgbClr val="170726"/>
          </a:solidFill>
          <a:ln w="12700">
            <a:solidFill>
              <a:srgbClr val="4B1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7824" y="3392424"/>
            <a:ext cx="50292" cy="841248"/>
          </a:xfrm>
          <a:prstGeom prst="rect">
            <a:avLst/>
          </a:prstGeom>
          <a:solidFill>
            <a:srgbClr val="00EAF5"/>
          </a:solidFill>
          <a:ln w="3810">
            <a:solidFill>
              <a:srgbClr val="00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3438144"/>
            <a:ext cx="2926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8F3FF"/>
                </a:solidFill>
                <a:latin typeface="Aptos"/>
              </a:defRPr>
            </a:pPr>
            <a:r>
              <a:t>NO SCORE / COLLISION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3877056"/>
            <a:ext cx="2907791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30" b="0" i="0">
                <a:solidFill>
                  <a:srgbClr val="D9C5F2"/>
                </a:solidFill>
                <a:latin typeface="Aptos"/>
              </a:defRPr>
            </a:pPr>
            <a:r>
              <a:t>Compare x, y, width, and height. Confirm the bullet is removed after a hit.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62272" y="3227832"/>
            <a:ext cx="3493008" cy="1170432"/>
          </a:xfrm>
          <a:prstGeom prst="roundRect">
            <a:avLst>
              <a:gd name="adj" fmla="val 12000"/>
            </a:avLst>
          </a:prstGeom>
          <a:solidFill>
            <a:srgbClr val="170726"/>
          </a:solidFill>
          <a:ln w="12700">
            <a:solidFill>
              <a:srgbClr val="4B1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26864" y="3392424"/>
            <a:ext cx="50292" cy="841248"/>
          </a:xfrm>
          <a:prstGeom prst="rect">
            <a:avLst/>
          </a:prstGeom>
          <a:solidFill>
            <a:srgbClr val="FF2EFF"/>
          </a:solidFill>
          <a:ln w="3810">
            <a:solidFill>
              <a:srgbClr val="FF2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28032" y="3438144"/>
            <a:ext cx="2926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8F3FF"/>
                </a:solidFill>
                <a:latin typeface="Aptos"/>
              </a:defRPr>
            </a:pPr>
            <a:r>
              <a:t>MUSIC DOES NOT PLAY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8032" y="3877056"/>
            <a:ext cx="2907791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30" b="0" i="0">
                <a:solidFill>
                  <a:srgbClr val="D9C5F2"/>
                </a:solidFill>
                <a:latin typeface="Aptos"/>
              </a:defRPr>
            </a:pPr>
            <a:r>
              <a:t>Start via a user click; confirm music.mp3 path and audio promise handling.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11311" y="3227832"/>
            <a:ext cx="3493008" cy="1170432"/>
          </a:xfrm>
          <a:prstGeom prst="roundRect">
            <a:avLst>
              <a:gd name="adj" fmla="val 12000"/>
            </a:avLst>
          </a:prstGeom>
          <a:solidFill>
            <a:srgbClr val="170726"/>
          </a:solidFill>
          <a:ln w="12700">
            <a:solidFill>
              <a:srgbClr val="4B1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75903" y="3392424"/>
            <a:ext cx="50292" cy="841248"/>
          </a:xfrm>
          <a:prstGeom prst="rect">
            <a:avLst/>
          </a:prstGeom>
          <a:solidFill>
            <a:srgbClr val="8D36C9"/>
          </a:solidFill>
          <a:ln w="3810">
            <a:solidFill>
              <a:srgbClr val="8D3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77072" y="3438144"/>
            <a:ext cx="29260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8F3FF"/>
                </a:solidFill>
                <a:latin typeface="Aptos"/>
              </a:defRPr>
            </a:pPr>
            <a:r>
              <a:t>PORT 5500 IS TAKEN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7072" y="3877056"/>
            <a:ext cx="2907791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30" b="0" i="0">
                <a:solidFill>
                  <a:srgbClr val="D9C5F2"/>
                </a:solidFill>
                <a:latin typeface="Aptos"/>
              </a:defRPr>
            </a:pPr>
            <a:r>
              <a:t>Stop the other Live Server instance or use a different port.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8" y="4965192"/>
            <a:ext cx="10826496" cy="658368"/>
          </a:xfrm>
          <a:prstGeom prst="roundRect">
            <a:avLst>
              <a:gd name="adj" fmla="val 12000"/>
            </a:avLst>
          </a:prstGeom>
          <a:solidFill>
            <a:srgbClr val="210935"/>
          </a:solidFill>
          <a:ln w="12700">
            <a:solidFill>
              <a:srgbClr val="672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5175504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0" b="1" i="0">
                <a:solidFill>
                  <a:srgbClr val="FF2EFF"/>
                </a:solidFill>
                <a:latin typeface="Consolas"/>
              </a:defRPr>
            </a:pPr>
            <a:r>
              <a:t>MINI CHALLENGE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5102352"/>
            <a:ext cx="8366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30" b="1" i="0">
                <a:solidFill>
                  <a:srgbClr val="F8F3FF"/>
                </a:solidFill>
                <a:latin typeface="Aptos"/>
              </a:defRPr>
            </a:pPr>
            <a:r>
              <a:t>Change one value — ship speed, bullet speed, or a point value — and predict what will happen before running it.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5879592"/>
            <a:ext cx="10469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10" b="1" i="0">
                <a:solidFill>
                  <a:srgbClr val="00EAF5"/>
                </a:solidFill>
                <a:latin typeface="Aptos"/>
              </a:defRPr>
            </a:pPr>
            <a:r>
              <a:t>EXIT TICKET: What checks whether two game objects overlap?  What does the game loop do every frame?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_bg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48640"/>
            <a:ext cx="36576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0EAF5"/>
                </a:solidFill>
                <a:latin typeface="Consolas"/>
              </a:defRPr>
            </a:pPr>
            <a:r>
              <a:t>TECHNOPIXEL • 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52144"/>
            <a:ext cx="548640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8F3FF"/>
                </a:solidFill>
                <a:latin typeface="Consolas"/>
              </a:defRPr>
            </a:pPr>
            <a:r>
              <a:t>YOU BUILT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8F3FF"/>
                </a:solidFill>
                <a:latin typeface="Consolas"/>
              </a:defRPr>
            </a:pPr>
            <a:r>
              <a:t>A BROWSER GAME.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49808" y="2852928"/>
            <a:ext cx="1335023" cy="0"/>
          </a:xfrm>
          <a:prstGeom prst="line">
            <a:avLst/>
          </a:prstGeom>
          <a:ln w="38100">
            <a:solidFill>
              <a:srgbClr val="FF2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68096" y="3182112"/>
            <a:ext cx="27432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D9C5F2"/>
                </a:solidFill>
                <a:latin typeface="Aptos"/>
              </a:defRPr>
            </a:pPr>
            <a:r>
              <a:t>Remember the loop: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639312"/>
            <a:ext cx="1682496" cy="1024128"/>
          </a:xfrm>
          <a:prstGeom prst="roundRect">
            <a:avLst>
              <a:gd name="adj" fmla="val 12000"/>
            </a:avLst>
          </a:prstGeom>
          <a:solidFill>
            <a:srgbClr val="1A072A"/>
          </a:solidFill>
          <a:ln w="12700">
            <a:solidFill>
              <a:srgbClr val="00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85876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19" b="1" i="0">
                <a:solidFill>
                  <a:srgbClr val="00EAF5"/>
                </a:solidFill>
                <a:latin typeface="Consolas"/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160520"/>
            <a:ext cx="14630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19" b="0" i="0">
                <a:solidFill>
                  <a:srgbClr val="F8F3FF"/>
                </a:solidFill>
                <a:latin typeface="Aptos"/>
              </a:defRPr>
            </a:pPr>
            <a:r>
              <a:t>Read the player’s intent.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33472" y="3639312"/>
            <a:ext cx="1682496" cy="1024128"/>
          </a:xfrm>
          <a:prstGeom prst="roundRect">
            <a:avLst>
              <a:gd name="adj" fmla="val 12000"/>
            </a:avLst>
          </a:prstGeom>
          <a:solidFill>
            <a:srgbClr val="1A072A"/>
          </a:solidFill>
          <a:ln w="12700">
            <a:solidFill>
              <a:srgbClr val="FF2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385876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19" b="1" i="0">
                <a:solidFill>
                  <a:srgbClr val="FF2EFF"/>
                </a:solidFill>
                <a:latin typeface="Consolas"/>
              </a:defRPr>
            </a:pPr>
            <a:r>
              <a:t>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160520"/>
            <a:ext cx="14630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19" b="0" i="0">
                <a:solidFill>
                  <a:srgbClr val="F8F3FF"/>
                </a:solidFill>
                <a:latin typeface="Aptos"/>
              </a:defRPr>
            </a:pPr>
            <a:r>
              <a:t>Apply movement and rules.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7136" y="3639312"/>
            <a:ext cx="1682496" cy="1024128"/>
          </a:xfrm>
          <a:prstGeom prst="roundRect">
            <a:avLst>
              <a:gd name="adj" fmla="val 12000"/>
            </a:avLst>
          </a:prstGeom>
          <a:solidFill>
            <a:srgbClr val="1A072A"/>
          </a:solidFill>
          <a:ln w="12700">
            <a:solidFill>
              <a:srgbClr val="8D3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385876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19" b="1" i="0">
                <a:solidFill>
                  <a:srgbClr val="8D36C9"/>
                </a:solidFill>
                <a:latin typeface="Consolas"/>
              </a:defRPr>
            </a:pPr>
            <a:r>
              <a:t>RENDER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4160520"/>
            <a:ext cx="14630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19" b="0" i="0">
                <a:solidFill>
                  <a:srgbClr val="F8F3FF"/>
                </a:solidFill>
                <a:latin typeface="Aptos"/>
              </a:defRPr>
            </a:pPr>
            <a:r>
              <a:t>Draw the current state.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4983480"/>
            <a:ext cx="53949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8F3FF"/>
                </a:solidFill>
                <a:latin typeface="Aptos"/>
              </a:defRPr>
            </a:pPr>
            <a:r>
              <a:t>Keep experimenting. Keep debugging. Make the game yours.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57607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2EFF"/>
                </a:solidFill>
                <a:latin typeface="Consolas"/>
              </a:defRPr>
            </a:pPr>
            <a:r>
              <a:t>Questions &amp; reflection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1508760"/>
            <a:ext cx="4983480" cy="2450592"/>
          </a:xfrm>
          <a:prstGeom prst="roundRect">
            <a:avLst>
              <a:gd name="adj" fmla="val 12000"/>
            </a:avLst>
          </a:prstGeom>
          <a:solidFill>
            <a:srgbClr val="10051D"/>
          </a:solidFill>
          <a:ln w="15240">
            <a:solidFill>
              <a:srgbClr val="FF2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tp_hero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1572768"/>
            <a:ext cx="4855464" cy="23225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20840" y="4233672"/>
            <a:ext cx="4526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8F3FF"/>
                </a:solidFill>
                <a:latin typeface="Consolas"/>
              </a:defRPr>
            </a:pPr>
            <a:r>
              <a:t>TECHNOPIXEL SPACE INVADERS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645152"/>
            <a:ext cx="4526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00EAF5"/>
                </a:solidFill>
                <a:latin typeface="Aptos"/>
              </a:defRPr>
            </a:pPr>
            <a:r>
              <a:t>Created by Dave Punzalan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5120640"/>
            <a:ext cx="440740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D9C5F2"/>
                </a:solidFill>
                <a:latin typeface="Aptos"/>
              </a:defRPr>
            </a:pPr>
            <a:r>
              <a:t>Use the Notion workshop guide after the session for the complete code walkthrough, exercises, and troubleshooting.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10160">
            <a:solidFill>
              <a:srgbClr val="3D18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6583680"/>
            <a:ext cx="6400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9E89B9"/>
                </a:solidFill>
                <a:latin typeface="Consolas"/>
              </a:defRPr>
            </a:pPr>
            <a:r>
              <a:t>TECHNOPIXEL • SPACE INVADERS • DECEMBER 10,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37392" y="6565392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FF2EFF"/>
                </a:solidFill>
                <a:latin typeface="Consola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